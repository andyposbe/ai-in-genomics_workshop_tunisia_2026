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2" r:id="rId2"/>
  </p:sldMasterIdLst>
  <p:notesMasterIdLst>
    <p:notesMasterId r:id="rId22"/>
  </p:notesMasterIdLst>
  <p:sldIdLst>
    <p:sldId id="333" r:id="rId3"/>
    <p:sldId id="320" r:id="rId4"/>
    <p:sldId id="301" r:id="rId5"/>
    <p:sldId id="302" r:id="rId6"/>
    <p:sldId id="303" r:id="rId7"/>
    <p:sldId id="304" r:id="rId8"/>
    <p:sldId id="259" r:id="rId9"/>
    <p:sldId id="260" r:id="rId10"/>
    <p:sldId id="305" r:id="rId11"/>
    <p:sldId id="261" r:id="rId12"/>
    <p:sldId id="262" r:id="rId13"/>
    <p:sldId id="263" r:id="rId14"/>
    <p:sldId id="307" r:id="rId15"/>
    <p:sldId id="308" r:id="rId16"/>
    <p:sldId id="265" r:id="rId17"/>
    <p:sldId id="266" r:id="rId18"/>
    <p:sldId id="267" r:id="rId19"/>
    <p:sldId id="306" r:id="rId20"/>
    <p:sldId id="256"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B7053C14-AC83-604B-AFA8-722F4F5E2E18}">
          <p14:sldIdLst>
            <p14:sldId id="333"/>
            <p14:sldId id="320"/>
            <p14:sldId id="301"/>
            <p14:sldId id="302"/>
            <p14:sldId id="303"/>
            <p14:sldId id="304"/>
          </p14:sldIdLst>
        </p14:section>
        <p14:section name="Exercise 1.1" id="{44FC4C7E-EA0F-3543-B62C-C774FDADA5A7}">
          <p14:sldIdLst>
            <p14:sldId id="259"/>
            <p14:sldId id="260"/>
            <p14:sldId id="305"/>
          </p14:sldIdLst>
        </p14:section>
        <p14:section name="Exercise 1.2" id="{3D7E758A-849F-DD4E-BA2D-8C7AE652256E}">
          <p14:sldIdLst>
            <p14:sldId id="261"/>
            <p14:sldId id="262"/>
            <p14:sldId id="263"/>
            <p14:sldId id="307"/>
            <p14:sldId id="308"/>
          </p14:sldIdLst>
        </p14:section>
        <p14:section name="Exercise 1.3" id="{EC09B00C-B136-1B44-B7D2-2E31BFC83F4C}">
          <p14:sldIdLst>
            <p14:sldId id="265"/>
            <p14:sldId id="266"/>
            <p14:sldId id="267"/>
            <p14:sldId id="306"/>
            <p14:sldId id="2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9EFE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8461"/>
    <p:restoredTop sz="94046"/>
  </p:normalViewPr>
  <p:slideViewPr>
    <p:cSldViewPr snapToGrid="0" snapToObjects="1">
      <p:cViewPr varScale="1">
        <p:scale>
          <a:sx n="113" d="100"/>
          <a:sy n="113" d="100"/>
        </p:scale>
        <p:origin x="1192" y="18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82477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Opener for Practical 01: Predict. Slot and description are verbatim from AinG-Workshop-Programme_v2026-09.pdf.
The URL under the description is the GitHub Pages address. Swap it if you set up a short link or a custom domain before the workshop.
Icons here are re-extracted from the programme PDF at 400 dpi, so they are sharper than the ones in the original header deck.</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A4BFBF-4077-C253-BFCF-1780687EE4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1D7648-B9BB-37A1-15BD-0394953558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83D6A-03A2-3EB7-3C90-76538F02500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17C465C-A198-87B1-9942-1AA1FD92610C}"/>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4904262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7"/>
        <p:cNvGrpSpPr/>
        <p:nvPr/>
      </p:nvGrpSpPr>
      <p:grpSpPr>
        <a:xfrm>
          <a:off x="0" y="0"/>
          <a:ext cx="0" cy="0"/>
          <a:chOff x="0" y="0"/>
          <a:chExt cx="0" cy="0"/>
        </a:xfrm>
      </p:grpSpPr>
      <p:sp>
        <p:nvSpPr>
          <p:cNvPr id="748" name="Google Shape;748;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49" name="Google Shape;749;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6"/>
        <p:cNvGrpSpPr/>
        <p:nvPr/>
      </p:nvGrpSpPr>
      <p:grpSpPr>
        <a:xfrm>
          <a:off x="0" y="0"/>
          <a:ext cx="0" cy="0"/>
          <a:chOff x="0" y="0"/>
          <a:chExt cx="0" cy="0"/>
        </a:xfrm>
      </p:grpSpPr>
      <p:sp>
        <p:nvSpPr>
          <p:cNvPr id="767" name="Google Shape;767;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68" name="Google Shape;768;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2"/>
        <p:cNvGrpSpPr/>
        <p:nvPr/>
      </p:nvGrpSpPr>
      <p:grpSpPr>
        <a:xfrm>
          <a:off x="0" y="0"/>
          <a:ext cx="0" cy="0"/>
          <a:chOff x="0" y="0"/>
          <a:chExt cx="0" cy="0"/>
        </a:xfrm>
      </p:grpSpPr>
      <p:sp>
        <p:nvSpPr>
          <p:cNvPr id="773" name="Google Shape;773;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74" name="Google Shape;77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9"/>
        <p:cNvGrpSpPr/>
        <p:nvPr/>
      </p:nvGrpSpPr>
      <p:grpSpPr>
        <a:xfrm>
          <a:off x="0" y="0"/>
          <a:ext cx="0" cy="0"/>
          <a:chOff x="0" y="0"/>
          <a:chExt cx="0" cy="0"/>
        </a:xfrm>
      </p:grpSpPr>
      <p:sp>
        <p:nvSpPr>
          <p:cNvPr id="780" name="Google Shape;780;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81" name="Google Shape;781;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6"/>
        <p:cNvGrpSpPr/>
        <p:nvPr/>
      </p:nvGrpSpPr>
      <p:grpSpPr>
        <a:xfrm>
          <a:off x="0" y="0"/>
          <a:ext cx="0" cy="0"/>
          <a:chOff x="0" y="0"/>
          <a:chExt cx="0" cy="0"/>
        </a:xfrm>
      </p:grpSpPr>
      <p:sp>
        <p:nvSpPr>
          <p:cNvPr id="797" name="Google Shape;797;p5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798" name="Google Shape;79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3" name="Google Shape;17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4" name="Google Shape;17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13</a:t>
            </a:fld>
            <a:endParaRPr/>
          </a:p>
        </p:txBody>
      </p:sp>
    </p:spTree>
    <p:extLst>
      <p:ext uri="{BB962C8B-B14F-4D97-AF65-F5344CB8AC3E}">
        <p14:creationId xmlns:p14="http://schemas.microsoft.com/office/powerpoint/2010/main" val="31265218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1" name="Google Shape;23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840726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5"/>
        <p:cNvGrpSpPr/>
        <p:nvPr/>
      </p:nvGrpSpPr>
      <p:grpSpPr>
        <a:xfrm>
          <a:off x="0" y="0"/>
          <a:ext cx="0" cy="0"/>
          <a:chOff x="0" y="0"/>
          <a:chExt cx="0" cy="0"/>
        </a:xfrm>
      </p:grpSpPr>
      <p:sp>
        <p:nvSpPr>
          <p:cNvPr id="816" name="Google Shape;816;p5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Arial"/>
              <a:buNone/>
            </a:pPr>
            <a:endParaRPr/>
          </a:p>
        </p:txBody>
      </p:sp>
      <p:sp>
        <p:nvSpPr>
          <p:cNvPr id="817" name="Google Shape;817;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724141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programme slide. Times and session titles taken from AinG-Workshop-Programme_v2026-09.pdf.
Tinted rows are the four practicals, each carrying its session icon, matching the tracker on the header slide. Breaks, lunch and Day 1 registration drop to grey.
The one-line descriptions under each session in the printed programme are left off here so the timetable stays readable from the back of the room.</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6"/>
        <p:cNvGrpSpPr/>
        <p:nvPr/>
      </p:nvGrpSpPr>
      <p:grpSpPr>
        <a:xfrm>
          <a:off x="0" y="0"/>
          <a:ext cx="0" cy="0"/>
          <a:chOff x="0" y="0"/>
          <a:chExt cx="0" cy="0"/>
        </a:xfrm>
      </p:grpSpPr>
      <p:sp>
        <p:nvSpPr>
          <p:cNvPr id="27" name="Google Shape;27;p6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6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18366192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5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5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5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37322412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Quote" type="tx">
  <p:cSld name="Quote">
    <p:spTree>
      <p:nvGrpSpPr>
        <p:cNvPr id="1" name="Shape 19"/>
        <p:cNvGrpSpPr/>
        <p:nvPr/>
      </p:nvGrpSpPr>
      <p:grpSpPr>
        <a:xfrm>
          <a:off x="0" y="0"/>
          <a:ext cx="0" cy="0"/>
          <a:chOff x="0" y="0"/>
          <a:chExt cx="0" cy="0"/>
        </a:xfrm>
      </p:grpSpPr>
    </p:spTree>
    <p:extLst>
      <p:ext uri="{BB962C8B-B14F-4D97-AF65-F5344CB8AC3E}">
        <p14:creationId xmlns:p14="http://schemas.microsoft.com/office/powerpoint/2010/main" val="10292897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6"/>
        <p:cNvGrpSpPr/>
        <p:nvPr/>
      </p:nvGrpSpPr>
      <p:grpSpPr>
        <a:xfrm>
          <a:off x="0" y="0"/>
          <a:ext cx="0" cy="0"/>
          <a:chOff x="0" y="0"/>
          <a:chExt cx="0" cy="0"/>
        </a:xfrm>
      </p:grpSpPr>
      <p:sp>
        <p:nvSpPr>
          <p:cNvPr id="27" name="Google Shape;27;p60"/>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60"/>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9" name="Google Shape;29;p6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6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6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31809075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2"/>
        <p:cNvGrpSpPr/>
        <p:nvPr/>
      </p:nvGrpSpPr>
      <p:grpSpPr>
        <a:xfrm>
          <a:off x="0" y="0"/>
          <a:ext cx="0" cy="0"/>
          <a:chOff x="0" y="0"/>
          <a:chExt cx="0" cy="0"/>
        </a:xfrm>
      </p:grpSpPr>
      <p:sp>
        <p:nvSpPr>
          <p:cNvPr id="33" name="Google Shape;33;p61"/>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61"/>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757575"/>
              </a:buClr>
              <a:buSzPts val="2400"/>
              <a:buNone/>
              <a:defRPr sz="2400">
                <a:solidFill>
                  <a:srgbClr val="757575"/>
                </a:solidFill>
              </a:defRPr>
            </a:lvl1pPr>
            <a:lvl2pPr marL="914400" lvl="1" indent="-228600" algn="l">
              <a:lnSpc>
                <a:spcPct val="90000"/>
              </a:lnSpc>
              <a:spcBef>
                <a:spcPts val="500"/>
              </a:spcBef>
              <a:spcAft>
                <a:spcPts val="0"/>
              </a:spcAft>
              <a:buClr>
                <a:srgbClr val="757575"/>
              </a:buClr>
              <a:buSzPts val="2000"/>
              <a:buNone/>
              <a:defRPr sz="2000">
                <a:solidFill>
                  <a:srgbClr val="757575"/>
                </a:solidFill>
              </a:defRPr>
            </a:lvl2pPr>
            <a:lvl3pPr marL="1371600" lvl="2" indent="-228600" algn="l">
              <a:lnSpc>
                <a:spcPct val="90000"/>
              </a:lnSpc>
              <a:spcBef>
                <a:spcPts val="500"/>
              </a:spcBef>
              <a:spcAft>
                <a:spcPts val="0"/>
              </a:spcAft>
              <a:buClr>
                <a:srgbClr val="757575"/>
              </a:buClr>
              <a:buSzPts val="1800"/>
              <a:buNone/>
              <a:defRPr sz="1800">
                <a:solidFill>
                  <a:srgbClr val="757575"/>
                </a:solidFill>
              </a:defRPr>
            </a:lvl3pPr>
            <a:lvl4pPr marL="1828800" lvl="3" indent="-228600" algn="l">
              <a:lnSpc>
                <a:spcPct val="90000"/>
              </a:lnSpc>
              <a:spcBef>
                <a:spcPts val="500"/>
              </a:spcBef>
              <a:spcAft>
                <a:spcPts val="0"/>
              </a:spcAft>
              <a:buClr>
                <a:srgbClr val="757575"/>
              </a:buClr>
              <a:buSzPts val="1600"/>
              <a:buNone/>
              <a:defRPr sz="1600">
                <a:solidFill>
                  <a:srgbClr val="757575"/>
                </a:solidFill>
              </a:defRPr>
            </a:lvl4pPr>
            <a:lvl5pPr marL="2286000" lvl="4" indent="-228600" algn="l">
              <a:lnSpc>
                <a:spcPct val="90000"/>
              </a:lnSpc>
              <a:spcBef>
                <a:spcPts val="500"/>
              </a:spcBef>
              <a:spcAft>
                <a:spcPts val="0"/>
              </a:spcAft>
              <a:buClr>
                <a:srgbClr val="757575"/>
              </a:buClr>
              <a:buSzPts val="1600"/>
              <a:buNone/>
              <a:defRPr sz="1600">
                <a:solidFill>
                  <a:srgbClr val="757575"/>
                </a:solidFill>
              </a:defRPr>
            </a:lvl5pPr>
            <a:lvl6pPr marL="2743200" lvl="5" indent="-228600" algn="l">
              <a:lnSpc>
                <a:spcPct val="90000"/>
              </a:lnSpc>
              <a:spcBef>
                <a:spcPts val="500"/>
              </a:spcBef>
              <a:spcAft>
                <a:spcPts val="0"/>
              </a:spcAft>
              <a:buClr>
                <a:srgbClr val="757575"/>
              </a:buClr>
              <a:buSzPts val="1600"/>
              <a:buNone/>
              <a:defRPr sz="1600">
                <a:solidFill>
                  <a:srgbClr val="757575"/>
                </a:solidFill>
              </a:defRPr>
            </a:lvl6pPr>
            <a:lvl7pPr marL="3200400" lvl="6" indent="-228600" algn="l">
              <a:lnSpc>
                <a:spcPct val="90000"/>
              </a:lnSpc>
              <a:spcBef>
                <a:spcPts val="500"/>
              </a:spcBef>
              <a:spcAft>
                <a:spcPts val="0"/>
              </a:spcAft>
              <a:buClr>
                <a:srgbClr val="757575"/>
              </a:buClr>
              <a:buSzPts val="1600"/>
              <a:buNone/>
              <a:defRPr sz="1600">
                <a:solidFill>
                  <a:srgbClr val="757575"/>
                </a:solidFill>
              </a:defRPr>
            </a:lvl7pPr>
            <a:lvl8pPr marL="3657600" lvl="7" indent="-228600" algn="l">
              <a:lnSpc>
                <a:spcPct val="90000"/>
              </a:lnSpc>
              <a:spcBef>
                <a:spcPts val="500"/>
              </a:spcBef>
              <a:spcAft>
                <a:spcPts val="0"/>
              </a:spcAft>
              <a:buClr>
                <a:srgbClr val="757575"/>
              </a:buClr>
              <a:buSzPts val="1600"/>
              <a:buNone/>
              <a:defRPr sz="1600">
                <a:solidFill>
                  <a:srgbClr val="757575"/>
                </a:solidFill>
              </a:defRPr>
            </a:lvl8pPr>
            <a:lvl9pPr marL="4114800" lvl="8" indent="-228600" algn="l">
              <a:lnSpc>
                <a:spcPct val="90000"/>
              </a:lnSpc>
              <a:spcBef>
                <a:spcPts val="500"/>
              </a:spcBef>
              <a:spcAft>
                <a:spcPts val="0"/>
              </a:spcAft>
              <a:buClr>
                <a:srgbClr val="757575"/>
              </a:buClr>
              <a:buSzPts val="1600"/>
              <a:buNone/>
              <a:defRPr sz="1600">
                <a:solidFill>
                  <a:srgbClr val="757575"/>
                </a:solidFill>
              </a:defRPr>
            </a:lvl9pPr>
          </a:lstStyle>
          <a:p>
            <a:endParaRPr/>
          </a:p>
        </p:txBody>
      </p:sp>
      <p:sp>
        <p:nvSpPr>
          <p:cNvPr id="35" name="Google Shape;35;p6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6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6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40175629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8"/>
        <p:cNvGrpSpPr/>
        <p:nvPr/>
      </p:nvGrpSpPr>
      <p:grpSpPr>
        <a:xfrm>
          <a:off x="0" y="0"/>
          <a:ext cx="0" cy="0"/>
          <a:chOff x="0" y="0"/>
          <a:chExt cx="0" cy="0"/>
        </a:xfrm>
      </p:grpSpPr>
      <p:sp>
        <p:nvSpPr>
          <p:cNvPr id="39" name="Google Shape;39;p6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1" name="Google Shape;41;p6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6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681743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5"/>
        <p:cNvGrpSpPr/>
        <p:nvPr/>
      </p:nvGrpSpPr>
      <p:grpSpPr>
        <a:xfrm>
          <a:off x="0" y="0"/>
          <a:ext cx="0" cy="0"/>
          <a:chOff x="0" y="0"/>
          <a:chExt cx="0" cy="0"/>
        </a:xfrm>
      </p:grpSpPr>
      <p:sp>
        <p:nvSpPr>
          <p:cNvPr id="46" name="Google Shape;46;p6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6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8" name="Google Shape;48;p6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6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0" name="Google Shape;50;p6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6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25280604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4"/>
        <p:cNvGrpSpPr/>
        <p:nvPr/>
      </p:nvGrpSpPr>
      <p:grpSpPr>
        <a:xfrm>
          <a:off x="0" y="0"/>
          <a:ext cx="0" cy="0"/>
          <a:chOff x="0" y="0"/>
          <a:chExt cx="0" cy="0"/>
        </a:xfrm>
      </p:grpSpPr>
      <p:sp>
        <p:nvSpPr>
          <p:cNvPr id="55" name="Google Shape;55;p6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6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6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6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245775340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9"/>
        <p:cNvGrpSpPr/>
        <p:nvPr/>
      </p:nvGrpSpPr>
      <p:grpSpPr>
        <a:xfrm>
          <a:off x="0" y="0"/>
          <a:ext cx="0" cy="0"/>
          <a:chOff x="0" y="0"/>
          <a:chExt cx="0" cy="0"/>
        </a:xfrm>
      </p:grpSpPr>
      <p:sp>
        <p:nvSpPr>
          <p:cNvPr id="60" name="Google Shape;60;p6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6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6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6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6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6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7855127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6"/>
        <p:cNvGrpSpPr/>
        <p:nvPr/>
      </p:nvGrpSpPr>
      <p:grpSpPr>
        <a:xfrm>
          <a:off x="0" y="0"/>
          <a:ext cx="0" cy="0"/>
          <a:chOff x="0" y="0"/>
          <a:chExt cx="0" cy="0"/>
        </a:xfrm>
      </p:grpSpPr>
      <p:sp>
        <p:nvSpPr>
          <p:cNvPr id="67" name="Google Shape;67;p6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66"/>
          <p:cNvSpPr>
            <a:spLocks noGrp="1"/>
          </p:cNvSpPr>
          <p:nvPr>
            <p:ph type="pic" idx="2"/>
          </p:nvPr>
        </p:nvSpPr>
        <p:spPr>
          <a:xfrm>
            <a:off x="5183188" y="987425"/>
            <a:ext cx="6172200" cy="4873625"/>
          </a:xfrm>
          <a:prstGeom prst="rect">
            <a:avLst/>
          </a:prstGeom>
          <a:noFill/>
          <a:ln>
            <a:noFill/>
          </a:ln>
        </p:spPr>
      </p:sp>
      <p:sp>
        <p:nvSpPr>
          <p:cNvPr id="69" name="Google Shape;69;p6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6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6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6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3754800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3"/>
        <p:cNvGrpSpPr/>
        <p:nvPr/>
      </p:nvGrpSpPr>
      <p:grpSpPr>
        <a:xfrm>
          <a:off x="0" y="0"/>
          <a:ext cx="0" cy="0"/>
          <a:chOff x="0" y="0"/>
          <a:chExt cx="0" cy="0"/>
        </a:xfrm>
      </p:grpSpPr>
      <p:sp>
        <p:nvSpPr>
          <p:cNvPr id="74" name="Google Shape;74;p6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6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6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6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6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102756211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9"/>
        <p:cNvGrpSpPr/>
        <p:nvPr/>
      </p:nvGrpSpPr>
      <p:grpSpPr>
        <a:xfrm>
          <a:off x="0" y="0"/>
          <a:ext cx="0" cy="0"/>
          <a:chOff x="0" y="0"/>
          <a:chExt cx="0" cy="0"/>
        </a:xfrm>
      </p:grpSpPr>
      <p:sp>
        <p:nvSpPr>
          <p:cNvPr id="80" name="Google Shape;80;p6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6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6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6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6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393437049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75"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Play"/>
              <a:buNone/>
              <a:defRPr sz="4400" b="0" i="0" u="none" strike="noStrike" cap="non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5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Arial"/>
                <a:ea typeface="Arial"/>
                <a:cs typeface="Arial"/>
                <a:sym typeface="Arial"/>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 name="Google Shape;12;p5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3" name="Google Shape;13;p5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757575"/>
                </a:solidFill>
                <a:latin typeface="Arial"/>
                <a:ea typeface="Arial"/>
                <a:cs typeface="Arial"/>
                <a:sym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sym typeface="Arial"/>
              </a:defRPr>
            </a:lvl9pPr>
          </a:lstStyle>
          <a:p>
            <a:endParaRPr/>
          </a:p>
        </p:txBody>
      </p:sp>
      <p:sp>
        <p:nvSpPr>
          <p:cNvPr id="14" name="Google Shape;14;p5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757575"/>
                </a:solidFill>
                <a:latin typeface="Arial"/>
                <a:ea typeface="Arial"/>
                <a:cs typeface="Arial"/>
                <a:sym typeface="Arial"/>
              </a:defRPr>
            </a:lvl1pPr>
            <a:lvl2pPr marL="0" marR="0" lvl="1" indent="0" algn="r" rtl="0">
              <a:spcBef>
                <a:spcPts val="0"/>
              </a:spcBef>
              <a:buNone/>
              <a:defRPr sz="1200" b="0" i="0" u="none" strike="noStrike" cap="none">
                <a:solidFill>
                  <a:srgbClr val="757575"/>
                </a:solidFill>
                <a:latin typeface="Arial"/>
                <a:ea typeface="Arial"/>
                <a:cs typeface="Arial"/>
                <a:sym typeface="Arial"/>
              </a:defRPr>
            </a:lvl2pPr>
            <a:lvl3pPr marL="0" marR="0" lvl="2" indent="0" algn="r" rtl="0">
              <a:spcBef>
                <a:spcPts val="0"/>
              </a:spcBef>
              <a:buNone/>
              <a:defRPr sz="1200" b="0" i="0" u="none" strike="noStrike" cap="none">
                <a:solidFill>
                  <a:srgbClr val="757575"/>
                </a:solidFill>
                <a:latin typeface="Arial"/>
                <a:ea typeface="Arial"/>
                <a:cs typeface="Arial"/>
                <a:sym typeface="Arial"/>
              </a:defRPr>
            </a:lvl3pPr>
            <a:lvl4pPr marL="0" marR="0" lvl="3" indent="0" algn="r" rtl="0">
              <a:spcBef>
                <a:spcPts val="0"/>
              </a:spcBef>
              <a:buNone/>
              <a:defRPr sz="1200" b="0" i="0" u="none" strike="noStrike" cap="none">
                <a:solidFill>
                  <a:srgbClr val="757575"/>
                </a:solidFill>
                <a:latin typeface="Arial"/>
                <a:ea typeface="Arial"/>
                <a:cs typeface="Arial"/>
                <a:sym typeface="Arial"/>
              </a:defRPr>
            </a:lvl4pPr>
            <a:lvl5pPr marL="0" marR="0" lvl="4" indent="0" algn="r" rtl="0">
              <a:spcBef>
                <a:spcPts val="0"/>
              </a:spcBef>
              <a:buNone/>
              <a:defRPr sz="1200" b="0" i="0" u="none" strike="noStrike" cap="none">
                <a:solidFill>
                  <a:srgbClr val="757575"/>
                </a:solidFill>
                <a:latin typeface="Arial"/>
                <a:ea typeface="Arial"/>
                <a:cs typeface="Arial"/>
                <a:sym typeface="Arial"/>
              </a:defRPr>
            </a:lvl5pPr>
            <a:lvl6pPr marL="0" marR="0" lvl="5" indent="0" algn="r" rtl="0">
              <a:spcBef>
                <a:spcPts val="0"/>
              </a:spcBef>
              <a:buNone/>
              <a:defRPr sz="1200" b="0" i="0" u="none" strike="noStrike" cap="none">
                <a:solidFill>
                  <a:srgbClr val="757575"/>
                </a:solidFill>
                <a:latin typeface="Arial"/>
                <a:ea typeface="Arial"/>
                <a:cs typeface="Arial"/>
                <a:sym typeface="Arial"/>
              </a:defRPr>
            </a:lvl6pPr>
            <a:lvl7pPr marL="0" marR="0" lvl="6" indent="0" algn="r" rtl="0">
              <a:spcBef>
                <a:spcPts val="0"/>
              </a:spcBef>
              <a:buNone/>
              <a:defRPr sz="1200" b="0" i="0" u="none" strike="noStrike" cap="none">
                <a:solidFill>
                  <a:srgbClr val="757575"/>
                </a:solidFill>
                <a:latin typeface="Arial"/>
                <a:ea typeface="Arial"/>
                <a:cs typeface="Arial"/>
                <a:sym typeface="Arial"/>
              </a:defRPr>
            </a:lvl7pPr>
            <a:lvl8pPr marL="0" marR="0" lvl="7" indent="0" algn="r" rtl="0">
              <a:spcBef>
                <a:spcPts val="0"/>
              </a:spcBef>
              <a:buNone/>
              <a:defRPr sz="1200" b="0" i="0" u="none" strike="noStrike" cap="none">
                <a:solidFill>
                  <a:srgbClr val="757575"/>
                </a:solidFill>
                <a:latin typeface="Arial"/>
                <a:ea typeface="Arial"/>
                <a:cs typeface="Arial"/>
                <a:sym typeface="Arial"/>
              </a:defRPr>
            </a:lvl8pPr>
            <a:lvl9pPr marL="0" marR="0" lvl="8" indent="0" algn="r" rtl="0">
              <a:spcBef>
                <a:spcPts val="0"/>
              </a:spcBef>
              <a:buNone/>
              <a:defRPr sz="1200" b="0" i="0" u="none" strike="noStrike" cap="none">
                <a:solidFill>
                  <a:srgbClr val="757575"/>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s-ES"/>
              <a:t>‹#›</a:t>
            </a:fld>
            <a:endParaRPr/>
          </a:p>
        </p:txBody>
      </p:sp>
    </p:spTree>
    <p:extLst>
      <p:ext uri="{BB962C8B-B14F-4D97-AF65-F5344CB8AC3E}">
        <p14:creationId xmlns:p14="http://schemas.microsoft.com/office/powerpoint/2010/main" val="252127590"/>
      </p:ext>
    </p:extLst>
  </p:cSld>
  <p:clrMap bg1="lt1" tx1="dk1" bg2="dk2" tx2="lt2" accent1="accent1" accent2="accent2" accent3="accent3" accent4="accent4" accent5="accent5" accent6="accent6" hlink="hlink" folHlink="folHlink"/>
  <p:sldLayoutIdLst>
    <p:sldLayoutId id="2147483663" r:id="rId1"/>
    <p:sldLayoutId id="2147483664"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13.jp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11.png"/><Relationship Id="rId5" Type="http://schemas.openxmlformats.org/officeDocument/2006/relationships/image" Target="../media/image10.jp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5.xml"/><Relationship Id="rId5" Type="http://schemas.openxmlformats.org/officeDocument/2006/relationships/image" Target="../media/image18.pn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5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435254" y="430682"/>
            <a:ext cx="4160520" cy="1247242"/>
          </a:xfrm>
          <a:prstGeom prst="rect">
            <a:avLst/>
          </a:prstGeom>
        </p:spPr>
      </p:pic>
      <p:sp>
        <p:nvSpPr>
          <p:cNvPr id="3" name="Text 0"/>
          <p:cNvSpPr txBox="1"/>
          <p:nvPr/>
        </p:nvSpPr>
        <p:spPr>
          <a:xfrm>
            <a:off x="685800" y="2606040"/>
            <a:ext cx="54864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50" normalizeH="0" baseline="0" noProof="0" dirty="0">
                <a:ln>
                  <a:noFill/>
                </a:ln>
                <a:solidFill>
                  <a:srgbClr val="A85674"/>
                </a:solidFill>
                <a:effectLst/>
                <a:uLnTx/>
                <a:uFillTx/>
                <a:latin typeface="Arial" pitchFamily="34" charset="0"/>
                <a:ea typeface="Arial" pitchFamily="34" charset="-122"/>
                <a:cs typeface="Arial" pitchFamily="34" charset="-120"/>
              </a:rPr>
              <a:t>PRACTICAL 01  ·  DAY 1  ·  11:20–12:30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685800" y="2834640"/>
            <a:ext cx="5394960"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60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Predict</a:t>
            </a:r>
            <a:endParaRPr kumimoji="0" lang="en-US" sz="4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txBox="1"/>
          <p:nvPr/>
        </p:nvSpPr>
        <p:spPr>
          <a:xfrm>
            <a:off x="685800" y="3767328"/>
            <a:ext cx="5394960" cy="868680"/>
          </a:xfrm>
          <a:prstGeom prst="rect">
            <a:avLst/>
          </a:prstGeom>
          <a:noFill/>
          <a:ln/>
        </p:spPr>
        <p:txBody>
          <a:bodyPr wrap="square" lIns="0" tIns="0" rIns="0" bIns="0" rtlCol="0" anchor="t"/>
          <a:lstStyle/>
          <a:p>
            <a:pPr marL="0" marR="0" lvl="0" indent="0" algn="l" defTabSz="914400" rtl="0" eaLnBrk="1" fontAlgn="auto" latinLnBrk="0" hangingPunct="1">
              <a:lnSpc>
                <a:spcPct val="13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Submit your sequence data to predict models, interpret and compare scores across complexes.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 3"/>
          <p:cNvSpPr txBox="1"/>
          <p:nvPr/>
        </p:nvSpPr>
        <p:spPr>
          <a:xfrm>
            <a:off x="685800" y="4828032"/>
            <a:ext cx="64008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Presenter: </a:t>
            </a:r>
            <a:r>
              <a:rPr kumimoji="0" lang="en-US" sz="1400" b="0"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Amal </a:t>
            </a:r>
            <a:r>
              <a:rPr kumimoji="0" lang="en-US" sz="1400" b="0" i="0" u="none" strike="noStrike" kern="1200" cap="none" spc="0" normalizeH="0" baseline="0" noProof="0" dirty="0" err="1">
                <a:ln>
                  <a:noFill/>
                </a:ln>
                <a:solidFill>
                  <a:srgbClr val="5F468D"/>
                </a:solidFill>
                <a:effectLst/>
                <a:uLnTx/>
                <a:uFillTx/>
                <a:latin typeface="Arial" pitchFamily="34" charset="0"/>
                <a:ea typeface="Arial" pitchFamily="34" charset="-122"/>
                <a:cs typeface="Arial" pitchFamily="34" charset="-120"/>
              </a:rPr>
              <a:t>Boukteb</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4"/>
          <p:cNvSpPr txBox="1"/>
          <p:nvPr/>
        </p:nvSpPr>
        <p:spPr>
          <a:xfrm>
            <a:off x="8430768" y="1700784"/>
            <a:ext cx="274320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A85674"/>
                </a:solidFill>
                <a:effectLst/>
                <a:uLnTx/>
                <a:uFillTx/>
                <a:latin typeface="Arial" pitchFamily="34" charset="0"/>
                <a:ea typeface="Arial" pitchFamily="34" charset="-122"/>
                <a:cs typeface="Arial" pitchFamily="34" charset="-120"/>
              </a:rPr>
              <a:t>PROGRAMME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5"/>
          <p:cNvSpPr/>
          <p:nvPr/>
        </p:nvSpPr>
        <p:spPr>
          <a:xfrm>
            <a:off x="8229600" y="2084832"/>
            <a:ext cx="3291840" cy="731520"/>
          </a:xfrm>
          <a:prstGeom prst="roundRect">
            <a:avLst>
              <a:gd name="adj" fmla="val 12500"/>
            </a:avLst>
          </a:prstGeom>
          <a:solidFill>
            <a:srgbClr val="FFFFFF"/>
          </a:solidFill>
          <a:ln w="12700">
            <a:solidFill>
              <a:srgbClr val="E4E0EC"/>
            </a:solidFill>
            <a:prstDash val="solid"/>
          </a:ln>
          <a:effectLst>
            <a:outerShdw blurRad="127000" dist="25400" dir="5400000" algn="bl" rotWithShape="0">
              <a:srgbClr val="5F468D">
                <a:alpha val="12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0" name="Image 2" descr="preencoded.png"/>
          <p:cNvPicPr>
            <a:picLocks noChangeAspect="1"/>
          </p:cNvPicPr>
          <p:nvPr/>
        </p:nvPicPr>
        <p:blipFill>
          <a:blip r:embed="rId4"/>
          <a:stretch>
            <a:fillRect/>
          </a:stretch>
        </p:blipFill>
        <p:spPr>
          <a:xfrm>
            <a:off x="8412480" y="2157984"/>
            <a:ext cx="603504" cy="603504"/>
          </a:xfrm>
          <a:prstGeom prst="rect">
            <a:avLst/>
          </a:prstGeom>
        </p:spPr>
      </p:pic>
      <p:sp>
        <p:nvSpPr>
          <p:cNvPr id="11" name="Text 6"/>
          <p:cNvSpPr txBox="1"/>
          <p:nvPr/>
        </p:nvSpPr>
        <p:spPr>
          <a:xfrm>
            <a:off x="9144000" y="2084832"/>
            <a:ext cx="38404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A85674"/>
                </a:solidFill>
                <a:effectLst/>
                <a:uLnTx/>
                <a:uFillTx/>
                <a:latin typeface="Arial" pitchFamily="34" charset="0"/>
                <a:ea typeface="Arial" pitchFamily="34" charset="-122"/>
                <a:cs typeface="Arial" pitchFamily="34" charset="-120"/>
              </a:rPr>
              <a:t>01</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7"/>
          <p:cNvSpPr txBox="1"/>
          <p:nvPr/>
        </p:nvSpPr>
        <p:spPr>
          <a:xfrm>
            <a:off x="9564624" y="2084832"/>
            <a:ext cx="18288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Predict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Image 3" descr="preencoded.png"/>
          <p:cNvPicPr>
            <a:picLocks noChangeAspect="1"/>
          </p:cNvPicPr>
          <p:nvPr/>
        </p:nvPicPr>
        <p:blipFill>
          <a:blip r:embed="rId5">
            <a:alphaModFix amt="42000"/>
          </a:blip>
          <a:stretch>
            <a:fillRect/>
          </a:stretch>
        </p:blipFill>
        <p:spPr>
          <a:xfrm>
            <a:off x="8412480" y="2962656"/>
            <a:ext cx="603504" cy="603504"/>
          </a:xfrm>
          <a:prstGeom prst="rect">
            <a:avLst/>
          </a:prstGeom>
        </p:spPr>
      </p:pic>
      <p:sp>
        <p:nvSpPr>
          <p:cNvPr id="14" name="Text 8"/>
          <p:cNvSpPr txBox="1"/>
          <p:nvPr/>
        </p:nvSpPr>
        <p:spPr>
          <a:xfrm>
            <a:off x="9144000" y="2889504"/>
            <a:ext cx="38404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9E96AE"/>
                </a:solidFill>
                <a:effectLst/>
                <a:uLnTx/>
                <a:uFillTx/>
                <a:latin typeface="Arial" pitchFamily="34" charset="0"/>
                <a:ea typeface="Arial" pitchFamily="34" charset="-122"/>
                <a:cs typeface="Arial" pitchFamily="34" charset="-120"/>
              </a:rPr>
              <a:t>02</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9"/>
          <p:cNvSpPr txBox="1"/>
          <p:nvPr/>
        </p:nvSpPr>
        <p:spPr>
          <a:xfrm>
            <a:off x="9564624" y="2889504"/>
            <a:ext cx="18288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Interpret</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Image 4" descr="preencoded.png"/>
          <p:cNvPicPr>
            <a:picLocks noChangeAspect="1"/>
          </p:cNvPicPr>
          <p:nvPr/>
        </p:nvPicPr>
        <p:blipFill>
          <a:blip r:embed="rId6">
            <a:alphaModFix amt="42000"/>
          </a:blip>
          <a:stretch>
            <a:fillRect/>
          </a:stretch>
        </p:blipFill>
        <p:spPr>
          <a:xfrm>
            <a:off x="8412480" y="3767328"/>
            <a:ext cx="603504" cy="603504"/>
          </a:xfrm>
          <a:prstGeom prst="rect">
            <a:avLst/>
          </a:prstGeom>
        </p:spPr>
      </p:pic>
      <p:sp>
        <p:nvSpPr>
          <p:cNvPr id="17" name="Text 10"/>
          <p:cNvSpPr txBox="1"/>
          <p:nvPr/>
        </p:nvSpPr>
        <p:spPr>
          <a:xfrm>
            <a:off x="9144000" y="3694176"/>
            <a:ext cx="38404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9E96AE"/>
                </a:solidFill>
                <a:effectLst/>
                <a:uLnTx/>
                <a:uFillTx/>
                <a:latin typeface="Arial" pitchFamily="34" charset="0"/>
                <a:ea typeface="Arial" pitchFamily="34" charset="-122"/>
                <a:cs typeface="Arial" pitchFamily="34" charset="-120"/>
              </a:rPr>
              <a:t>03</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1"/>
          <p:cNvSpPr txBox="1"/>
          <p:nvPr/>
        </p:nvSpPr>
        <p:spPr>
          <a:xfrm>
            <a:off x="9564624" y="3694176"/>
            <a:ext cx="18288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Compare</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5" descr="preencoded.png"/>
          <p:cNvPicPr>
            <a:picLocks noChangeAspect="1"/>
          </p:cNvPicPr>
          <p:nvPr/>
        </p:nvPicPr>
        <p:blipFill>
          <a:blip r:embed="rId7">
            <a:alphaModFix amt="42000"/>
          </a:blip>
          <a:stretch>
            <a:fillRect/>
          </a:stretch>
        </p:blipFill>
        <p:spPr>
          <a:xfrm>
            <a:off x="8412480" y="4572000"/>
            <a:ext cx="603504" cy="603504"/>
          </a:xfrm>
          <a:prstGeom prst="rect">
            <a:avLst/>
          </a:prstGeom>
        </p:spPr>
      </p:pic>
      <p:sp>
        <p:nvSpPr>
          <p:cNvPr id="20" name="Text 12"/>
          <p:cNvSpPr txBox="1"/>
          <p:nvPr/>
        </p:nvSpPr>
        <p:spPr>
          <a:xfrm>
            <a:off x="9144000" y="4498848"/>
            <a:ext cx="384048"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100" normalizeH="0" baseline="0" noProof="0" dirty="0">
                <a:ln>
                  <a:noFill/>
                </a:ln>
                <a:solidFill>
                  <a:srgbClr val="9E96AE"/>
                </a:solidFill>
                <a:effectLst/>
                <a:uLnTx/>
                <a:uFillTx/>
                <a:latin typeface="Arial" pitchFamily="34" charset="0"/>
                <a:ea typeface="Arial" pitchFamily="34" charset="-122"/>
                <a:cs typeface="Arial" pitchFamily="34" charset="-120"/>
              </a:rPr>
              <a:t>04</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3"/>
          <p:cNvSpPr txBox="1"/>
          <p:nvPr/>
        </p:nvSpPr>
        <p:spPr>
          <a:xfrm>
            <a:off x="9564624" y="4498848"/>
            <a:ext cx="1828800" cy="7315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Design</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4"/>
          <p:cNvSpPr/>
          <p:nvPr/>
        </p:nvSpPr>
        <p:spPr>
          <a:xfrm>
            <a:off x="685800" y="5760720"/>
            <a:ext cx="10835640" cy="0"/>
          </a:xfrm>
          <a:prstGeom prst="line">
            <a:avLst/>
          </a:prstGeom>
          <a:noFill/>
          <a:ln w="12700">
            <a:solidFill>
              <a:srgbClr val="E4E0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3" name="Image 6" descr="preencoded.png"/>
          <p:cNvPicPr>
            <a:picLocks noChangeAspect="1"/>
          </p:cNvPicPr>
          <p:nvPr/>
        </p:nvPicPr>
        <p:blipFill>
          <a:blip r:embed="rId8"/>
          <a:stretch>
            <a:fillRect/>
          </a:stretch>
        </p:blipFill>
        <p:spPr>
          <a:xfrm>
            <a:off x="685799" y="5943600"/>
            <a:ext cx="982063" cy="680312"/>
          </a:xfrm>
          <a:prstGeom prst="rect">
            <a:avLst/>
          </a:prstGeom>
        </p:spPr>
      </p:pic>
      <p:pic>
        <p:nvPicPr>
          <p:cNvPr id="24" name="Image 7" descr="preencoded.png"/>
          <p:cNvPicPr>
            <a:picLocks noChangeAspect="1"/>
          </p:cNvPicPr>
          <p:nvPr/>
        </p:nvPicPr>
        <p:blipFill>
          <a:blip r:embed="rId9"/>
          <a:stretch>
            <a:fillRect/>
          </a:stretch>
        </p:blipFill>
        <p:spPr>
          <a:xfrm>
            <a:off x="1810512" y="6089903"/>
            <a:ext cx="1813798" cy="329183"/>
          </a:xfrm>
          <a:prstGeom prst="rect">
            <a:avLst/>
          </a:prstGeom>
        </p:spPr>
      </p:pic>
      <p:sp>
        <p:nvSpPr>
          <p:cNvPr id="25" name="Text 15"/>
          <p:cNvSpPr txBox="1"/>
          <p:nvPr/>
        </p:nvSpPr>
        <p:spPr>
          <a:xfrm>
            <a:off x="5669280" y="6089904"/>
            <a:ext cx="585216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getgenome@tsl.ac.uk · getgenome.net · </a:t>
            </a:r>
            <a:r>
              <a:rPr kumimoji="0" lang="en-US" sz="1100" b="0" i="1" u="none" strike="noStrike" kern="1200" cap="none" spc="0" normalizeH="0" baseline="0" noProof="0" dirty="0">
                <a:ln>
                  <a:noFill/>
                </a:ln>
                <a:solidFill>
                  <a:srgbClr val="A85674"/>
                </a:solidFill>
                <a:effectLst/>
                <a:uLnTx/>
                <a:uFillTx/>
                <a:latin typeface="Arial" pitchFamily="34" charset="0"/>
                <a:ea typeface="Arial" pitchFamily="34" charset="-122"/>
                <a:cs typeface="Arial" pitchFamily="34" charset="-120"/>
              </a:rPr>
              <a:t>#AIGenomics2026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6283D"/>
        </a:solidFill>
        <a:effectLst/>
      </p:bgPr>
    </p:bg>
    <p:spTree>
      <p:nvGrpSpPr>
        <p:cNvPr id="1" name="">
          <a:extLst>
            <a:ext uri="{FF2B5EF4-FFF2-40B4-BE49-F238E27FC236}">
              <a16:creationId xmlns:a16="http://schemas.microsoft.com/office/drawing/2014/main" id="{43CE23B9-FC56-4016-9F49-6E398D726F46}"/>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A9C71607-5B33-9C7C-D950-3C7E02E708B0}"/>
              </a:ext>
            </a:extLst>
          </p:cNvPr>
          <p:cNvSpPr/>
          <p:nvPr/>
        </p:nvSpPr>
        <p:spPr>
          <a:xfrm>
            <a:off x="566928" y="2148840"/>
            <a:ext cx="1005840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0" cap="none" spc="500" normalizeH="0" baseline="0" noProof="0" dirty="0">
                <a:ln>
                  <a:noFill/>
                </a:ln>
                <a:solidFill>
                  <a:srgbClr val="2B89AD"/>
                </a:solidFill>
                <a:effectLst/>
                <a:uLnTx/>
                <a:uFillTx/>
                <a:latin typeface="Calibri" pitchFamily="34" charset="0"/>
                <a:ea typeface="Calibri" pitchFamily="34" charset="-122"/>
                <a:cs typeface="Calibri" pitchFamily="34" charset="-120"/>
              </a:rPr>
              <a:t>SESSION 1</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3">
            <a:extLst>
              <a:ext uri="{FF2B5EF4-FFF2-40B4-BE49-F238E27FC236}">
                <a16:creationId xmlns:a16="http://schemas.microsoft.com/office/drawing/2014/main" id="{65A316C5-E13A-02E4-A4B8-A15106811309}"/>
              </a:ext>
            </a:extLst>
          </p:cNvPr>
          <p:cNvSpPr/>
          <p:nvPr/>
        </p:nvSpPr>
        <p:spPr>
          <a:xfrm>
            <a:off x="566928" y="2606040"/>
            <a:ext cx="10607040" cy="1205469"/>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200" b="1" i="0" u="none" strike="noStrike" kern="1200" cap="none" spc="0" normalizeH="0" baseline="0" noProof="0" dirty="0">
                <a:ln>
                  <a:noFill/>
                </a:ln>
                <a:solidFill>
                  <a:srgbClr val="FFFFFF"/>
                </a:solidFill>
                <a:effectLst/>
                <a:uLnTx/>
                <a:uFillTx/>
                <a:latin typeface="Cambria" pitchFamily="34" charset="0"/>
                <a:ea typeface="Cambria" pitchFamily="34" charset="-122"/>
                <a:cs typeface="Cambria" pitchFamily="34" charset="-120"/>
              </a:rPr>
              <a:t>Running jobs on the AlphaFold Web Server and interpreting confidence metrics</a:t>
            </a:r>
            <a:endParaRPr kumimoji="0" lang="en-US" sz="3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61613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0"/>
        <p:cNvGrpSpPr/>
        <p:nvPr/>
      </p:nvGrpSpPr>
      <p:grpSpPr>
        <a:xfrm>
          <a:off x="0" y="0"/>
          <a:ext cx="0" cy="0"/>
          <a:chOff x="0" y="0"/>
          <a:chExt cx="0" cy="0"/>
        </a:xfrm>
      </p:grpSpPr>
      <p:sp>
        <p:nvSpPr>
          <p:cNvPr id="751" name="Google Shape;751;p46"/>
          <p:cNvSpPr txBox="1"/>
          <p:nvPr/>
        </p:nvSpPr>
        <p:spPr>
          <a:xfrm>
            <a:off x="1335549" y="523324"/>
            <a:ext cx="9520903" cy="400069"/>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sz="20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Rice </a:t>
            </a:r>
            <a:r>
              <a:rPr kumimoji="0" lang="es-ES" sz="20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immune</a:t>
            </a:r>
            <a:r>
              <a:rPr kumimoji="0" lang="es-ES" sz="20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receptor Pikp-1 causes </a:t>
            </a:r>
            <a:r>
              <a:rPr kumimoji="0" lang="es-ES" sz="20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resistance</a:t>
            </a:r>
            <a:r>
              <a:rPr kumimoji="0" lang="es-ES" sz="20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0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to</a:t>
            </a:r>
            <a:r>
              <a:rPr kumimoji="0" lang="es-ES" sz="20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000" b="1" i="1"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Prycularia</a:t>
            </a:r>
            <a:r>
              <a:rPr kumimoji="0" lang="es-ES" sz="2000" b="1" i="1"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000" b="1" i="1"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oryzae</a:t>
            </a:r>
            <a:endParaRPr kumimoji="0" sz="1200" b="0" i="0" u="none" strike="noStrike" kern="0" cap="none" spc="0" normalizeH="0" baseline="0" noProof="0" dirty="0">
              <a:ln>
                <a:noFill/>
              </a:ln>
              <a:solidFill>
                <a:srgbClr val="000000"/>
              </a:solidFill>
              <a:effectLst/>
              <a:uLnTx/>
              <a:uFillTx/>
              <a:latin typeface="Cambria" panose="02040503050406030204" pitchFamily="18" charset="0"/>
              <a:ea typeface="Arial"/>
              <a:cs typeface="Arial"/>
              <a:sym typeface="Arial"/>
            </a:endParaRPr>
          </a:p>
        </p:txBody>
      </p:sp>
      <p:pic>
        <p:nvPicPr>
          <p:cNvPr id="752" name="Google Shape;752;p46"/>
          <p:cNvPicPr preferRelativeResize="0"/>
          <p:nvPr/>
        </p:nvPicPr>
        <p:blipFill rotWithShape="1">
          <a:blip r:embed="rId3">
            <a:alphaModFix/>
          </a:blip>
          <a:srcRect/>
          <a:stretch/>
        </p:blipFill>
        <p:spPr>
          <a:xfrm>
            <a:off x="7504742" y="4987986"/>
            <a:ext cx="1308872" cy="1509424"/>
          </a:xfrm>
          <a:prstGeom prst="rect">
            <a:avLst/>
          </a:prstGeom>
          <a:noFill/>
          <a:ln>
            <a:noFill/>
          </a:ln>
        </p:spPr>
      </p:pic>
      <p:pic>
        <p:nvPicPr>
          <p:cNvPr id="753" name="Google Shape;753;p46"/>
          <p:cNvPicPr preferRelativeResize="0"/>
          <p:nvPr/>
        </p:nvPicPr>
        <p:blipFill rotWithShape="1">
          <a:blip r:embed="rId4">
            <a:alphaModFix/>
          </a:blip>
          <a:srcRect/>
          <a:stretch/>
        </p:blipFill>
        <p:spPr>
          <a:xfrm>
            <a:off x="9637902" y="5622291"/>
            <a:ext cx="1417092" cy="240813"/>
          </a:xfrm>
          <a:prstGeom prst="rect">
            <a:avLst/>
          </a:prstGeom>
          <a:noFill/>
          <a:ln>
            <a:noFill/>
          </a:ln>
        </p:spPr>
      </p:pic>
      <p:pic>
        <p:nvPicPr>
          <p:cNvPr id="754" name="Google Shape;754;p46" descr="草, グリーン, 屋外, 座る が含まれている画像&#10;&#10;自動的に生成された説明"/>
          <p:cNvPicPr preferRelativeResize="0"/>
          <p:nvPr/>
        </p:nvPicPr>
        <p:blipFill rotWithShape="1">
          <a:blip r:embed="rId5">
            <a:alphaModFix/>
          </a:blip>
          <a:srcRect/>
          <a:stretch/>
        </p:blipFill>
        <p:spPr>
          <a:xfrm>
            <a:off x="1335967" y="1745684"/>
            <a:ext cx="5029489" cy="1904114"/>
          </a:xfrm>
          <a:prstGeom prst="rect">
            <a:avLst/>
          </a:prstGeom>
          <a:noFill/>
          <a:ln>
            <a:noFill/>
          </a:ln>
        </p:spPr>
      </p:pic>
      <p:sp>
        <p:nvSpPr>
          <p:cNvPr id="755" name="Google Shape;755;p46"/>
          <p:cNvSpPr txBox="1"/>
          <p:nvPr/>
        </p:nvSpPr>
        <p:spPr>
          <a:xfrm>
            <a:off x="2356661" y="5817416"/>
            <a:ext cx="2958969" cy="64629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1" u="none" strike="noStrike" kern="0" cap="none" spc="0" normalizeH="0" baseline="0" noProof="0" dirty="0" err="1">
                <a:ln>
                  <a:noFill/>
                </a:ln>
                <a:solidFill>
                  <a:srgbClr val="000000"/>
                </a:solidFill>
                <a:effectLst/>
                <a:uLnTx/>
                <a:uFillTx/>
                <a:latin typeface="Arial"/>
                <a:ea typeface="Arial"/>
                <a:cs typeface="Arial"/>
                <a:sym typeface="Arial"/>
              </a:rPr>
              <a:t>Pyricularia</a:t>
            </a:r>
            <a:r>
              <a:rPr kumimoji="0" lang="es-ES" sz="1800" b="0" i="1" u="none" strike="noStrike" kern="0" cap="none" spc="0" normalizeH="0" baseline="0" noProof="0" dirty="0">
                <a:ln>
                  <a:noFill/>
                </a:ln>
                <a:solidFill>
                  <a:srgbClr val="000000"/>
                </a:solidFill>
                <a:effectLst/>
                <a:uLnTx/>
                <a:uFillTx/>
                <a:latin typeface="Arial"/>
                <a:ea typeface="Arial"/>
                <a:cs typeface="Arial"/>
                <a:sym typeface="Arial"/>
              </a:rPr>
              <a:t> </a:t>
            </a:r>
            <a:r>
              <a:rPr kumimoji="0" lang="es-ES" sz="1800" b="0" i="1" u="none" strike="noStrike" kern="0" cap="none" spc="0" normalizeH="0" baseline="0" noProof="0" dirty="0" err="1">
                <a:ln>
                  <a:noFill/>
                </a:ln>
                <a:solidFill>
                  <a:srgbClr val="000000"/>
                </a:solidFill>
                <a:effectLst/>
                <a:uLnTx/>
                <a:uFillTx/>
                <a:latin typeface="Arial"/>
                <a:ea typeface="Arial"/>
                <a:cs typeface="Arial"/>
                <a:sym typeface="Arial"/>
              </a:rPr>
              <a:t>oryzae</a:t>
            </a:r>
            <a:endParaRPr kumimoji="0" lang="es-ES" sz="1800" b="0" i="1" u="none" strike="noStrike" kern="0" cap="none" spc="0" normalizeH="0" baseline="0" noProof="0" dirty="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lang="es-ES" kern="0" dirty="0" err="1">
                <a:solidFill>
                  <a:srgbClr val="000000"/>
                </a:solidFill>
                <a:latin typeface="Arial"/>
                <a:ea typeface="Arial"/>
                <a:cs typeface="Arial"/>
                <a:sym typeface="Arial"/>
              </a:rPr>
              <a:t>spores</a:t>
            </a:r>
            <a:endParaRPr kumimoji="0" sz="1800" b="0"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756" name="Google Shape;756;p46"/>
          <p:cNvGrpSpPr/>
          <p:nvPr/>
        </p:nvGrpSpPr>
        <p:grpSpPr>
          <a:xfrm>
            <a:off x="7400413" y="1648252"/>
            <a:ext cx="3791131" cy="2487285"/>
            <a:chOff x="7400413" y="1648252"/>
            <a:chExt cx="3791131" cy="2487285"/>
          </a:xfrm>
        </p:grpSpPr>
        <p:sp>
          <p:nvSpPr>
            <p:cNvPr id="757" name="Google Shape;757;p46"/>
            <p:cNvSpPr txBox="1"/>
            <p:nvPr/>
          </p:nvSpPr>
          <p:spPr>
            <a:xfrm>
              <a:off x="9353114" y="3766205"/>
              <a:ext cx="1838430"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 </a:t>
              </a:r>
              <a:r>
                <a:rPr kumimoji="0" lang="es-ES" sz="1800" b="0" i="1" u="none" strike="noStrike" kern="0" cap="none" spc="0" normalizeH="0" baseline="0" noProof="0">
                  <a:ln>
                    <a:noFill/>
                  </a:ln>
                  <a:solidFill>
                    <a:srgbClr val="000000"/>
                  </a:solidFill>
                  <a:effectLst/>
                  <a:uLnTx/>
                  <a:uFillTx/>
                  <a:latin typeface="Arial"/>
                  <a:ea typeface="Arial"/>
                  <a:cs typeface="Arial"/>
                  <a:sym typeface="Arial"/>
                </a:rPr>
                <a:t>Pikp-1</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758" name="Google Shape;758;p46"/>
            <p:cNvPicPr preferRelativeResize="0"/>
            <p:nvPr/>
          </p:nvPicPr>
          <p:blipFill rotWithShape="1">
            <a:blip r:embed="rId6">
              <a:alphaModFix/>
            </a:blip>
            <a:srcRect/>
            <a:stretch/>
          </p:blipFill>
          <p:spPr>
            <a:xfrm>
              <a:off x="9637902" y="1648252"/>
              <a:ext cx="1268854" cy="2137313"/>
            </a:xfrm>
            <a:prstGeom prst="rect">
              <a:avLst/>
            </a:prstGeom>
            <a:noFill/>
            <a:ln>
              <a:noFill/>
            </a:ln>
          </p:spPr>
        </p:pic>
        <p:pic>
          <p:nvPicPr>
            <p:cNvPr id="759" name="Google Shape;759;p46"/>
            <p:cNvPicPr preferRelativeResize="0"/>
            <p:nvPr/>
          </p:nvPicPr>
          <p:blipFill rotWithShape="1">
            <a:blip r:embed="rId7">
              <a:alphaModFix/>
            </a:blip>
            <a:srcRect/>
            <a:stretch/>
          </p:blipFill>
          <p:spPr>
            <a:xfrm>
              <a:off x="7504742" y="1648252"/>
              <a:ext cx="1629772" cy="2103477"/>
            </a:xfrm>
            <a:prstGeom prst="rect">
              <a:avLst/>
            </a:prstGeom>
            <a:noFill/>
            <a:ln>
              <a:noFill/>
            </a:ln>
          </p:spPr>
        </p:pic>
        <p:sp>
          <p:nvSpPr>
            <p:cNvPr id="760" name="Google Shape;760;p46"/>
            <p:cNvSpPr txBox="1"/>
            <p:nvPr/>
          </p:nvSpPr>
          <p:spPr>
            <a:xfrm>
              <a:off x="7400413" y="3766205"/>
              <a:ext cx="1838430"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1" u="none" strike="noStrike" kern="0" cap="none" spc="0" normalizeH="0" baseline="0" noProof="0">
                  <a:ln>
                    <a:noFill/>
                  </a:ln>
                  <a:solidFill>
                    <a:srgbClr val="000000"/>
                  </a:solidFill>
                  <a:effectLst/>
                  <a:uLnTx/>
                  <a:uFillTx/>
                  <a:latin typeface="Arial"/>
                  <a:ea typeface="Arial"/>
                  <a:cs typeface="Arial"/>
                  <a:sym typeface="Arial"/>
                </a:rPr>
                <a:t>- Pikp-1</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sp>
        <p:nvSpPr>
          <p:cNvPr id="761" name="Google Shape;761;p46"/>
          <p:cNvSpPr txBox="1"/>
          <p:nvPr/>
        </p:nvSpPr>
        <p:spPr>
          <a:xfrm>
            <a:off x="8451713" y="4212636"/>
            <a:ext cx="1838430"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Rice cultivars</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62" name="Google Shape;762;p46"/>
          <p:cNvSpPr txBox="1"/>
          <p:nvPr/>
        </p:nvSpPr>
        <p:spPr>
          <a:xfrm>
            <a:off x="1379052" y="1317457"/>
            <a:ext cx="4943319"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Rice blast disease cased by </a:t>
            </a:r>
            <a:r>
              <a:rPr kumimoji="0" lang="es-ES" sz="1800" b="0" i="1" u="none" strike="noStrike" kern="0" cap="none" spc="0" normalizeH="0" baseline="0" noProof="0">
                <a:ln>
                  <a:noFill/>
                </a:ln>
                <a:solidFill>
                  <a:srgbClr val="000000"/>
                </a:solidFill>
                <a:effectLst/>
                <a:uLnTx/>
                <a:uFillTx/>
                <a:latin typeface="Arial"/>
                <a:ea typeface="Arial"/>
                <a:cs typeface="Arial"/>
                <a:sym typeface="Arial"/>
              </a:rPr>
              <a:t>Pyricularia oryzae</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63" name="Google Shape;763;p46"/>
          <p:cNvSpPr/>
          <p:nvPr/>
        </p:nvSpPr>
        <p:spPr>
          <a:xfrm>
            <a:off x="3558238" y="2379648"/>
            <a:ext cx="599359" cy="1073316"/>
          </a:xfrm>
          <a:prstGeom prst="rect">
            <a:avLst/>
          </a:prstGeom>
          <a:noFill/>
          <a:ln w="12700" cap="flat" cmpd="sng">
            <a:solidFill>
              <a:srgbClr val="082836"/>
            </a:solidFill>
            <a:prstDash val="dash"/>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cxnSp>
        <p:nvCxnSpPr>
          <p:cNvPr id="764" name="Google Shape;764;p46"/>
          <p:cNvCxnSpPr/>
          <p:nvPr/>
        </p:nvCxnSpPr>
        <p:spPr>
          <a:xfrm>
            <a:off x="3857917" y="3452964"/>
            <a:ext cx="0" cy="820271"/>
          </a:xfrm>
          <a:prstGeom prst="straightConnector1">
            <a:avLst/>
          </a:prstGeom>
          <a:noFill/>
          <a:ln w="12700" cap="flat" cmpd="sng">
            <a:solidFill>
              <a:schemeClr val="dk1"/>
            </a:solidFill>
            <a:prstDash val="solid"/>
            <a:miter lim="80"/>
            <a:headEnd type="none" w="sm" len="sm"/>
            <a:tailEnd type="none" w="sm" len="sm"/>
          </a:ln>
        </p:spPr>
      </p:cxnSp>
      <p:pic>
        <p:nvPicPr>
          <p:cNvPr id="765" name="Google Shape;765;p46"/>
          <p:cNvPicPr preferRelativeResize="0"/>
          <p:nvPr/>
        </p:nvPicPr>
        <p:blipFill rotWithShape="1">
          <a:blip r:embed="rId8">
            <a:alphaModFix/>
          </a:blip>
          <a:srcRect/>
          <a:stretch/>
        </p:blipFill>
        <p:spPr>
          <a:xfrm>
            <a:off x="2914845" y="4053127"/>
            <a:ext cx="1886144" cy="1689571"/>
          </a:xfrm>
          <a:prstGeom prst="rect">
            <a:avLst/>
          </a:prstGeom>
          <a:noFill/>
          <a:ln w="9525" cap="flat" cmpd="sng">
            <a:solidFill>
              <a:schemeClr val="dk1"/>
            </a:solidFill>
            <a:prstDash val="solid"/>
            <a:miter lim="80"/>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9"/>
        <p:cNvGrpSpPr/>
        <p:nvPr/>
      </p:nvGrpSpPr>
      <p:grpSpPr>
        <a:xfrm>
          <a:off x="0" y="0"/>
          <a:ext cx="0" cy="0"/>
          <a:chOff x="0" y="0"/>
          <a:chExt cx="0" cy="0"/>
        </a:xfrm>
      </p:grpSpPr>
      <p:sp>
        <p:nvSpPr>
          <p:cNvPr id="770" name="Google Shape;770;p47"/>
          <p:cNvSpPr txBox="1"/>
          <p:nvPr/>
        </p:nvSpPr>
        <p:spPr>
          <a:xfrm>
            <a:off x="1335549" y="274220"/>
            <a:ext cx="9520903"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Protein</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sequence</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of</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Pikp-1</a:t>
            </a:r>
            <a:endParaRPr kumimoji="0" sz="2800" b="1" i="1"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endParaRPr>
          </a:p>
        </p:txBody>
      </p:sp>
      <p:pic>
        <p:nvPicPr>
          <p:cNvPr id="771" name="Google Shape;771;p47"/>
          <p:cNvPicPr preferRelativeResize="0"/>
          <p:nvPr/>
        </p:nvPicPr>
        <p:blipFill rotWithShape="1">
          <a:blip r:embed="rId3">
            <a:alphaModFix/>
          </a:blip>
          <a:srcRect/>
          <a:stretch/>
        </p:blipFill>
        <p:spPr>
          <a:xfrm>
            <a:off x="1727150" y="1282125"/>
            <a:ext cx="8737701" cy="459289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5"/>
        <p:cNvGrpSpPr/>
        <p:nvPr/>
      </p:nvGrpSpPr>
      <p:grpSpPr>
        <a:xfrm>
          <a:off x="0" y="0"/>
          <a:ext cx="0" cy="0"/>
          <a:chOff x="0" y="0"/>
          <a:chExt cx="0" cy="0"/>
        </a:xfrm>
      </p:grpSpPr>
      <p:pic>
        <p:nvPicPr>
          <p:cNvPr id="777" name="Google Shape;777;p48"/>
          <p:cNvPicPr preferRelativeResize="0"/>
          <p:nvPr/>
        </p:nvPicPr>
        <p:blipFill rotWithShape="1">
          <a:blip r:embed="rId3">
            <a:alphaModFix/>
          </a:blip>
          <a:srcRect/>
          <a:stretch/>
        </p:blipFill>
        <p:spPr>
          <a:xfrm>
            <a:off x="1981982" y="1267135"/>
            <a:ext cx="8737701" cy="4592894"/>
          </a:xfrm>
          <a:prstGeom prst="rect">
            <a:avLst/>
          </a:prstGeom>
          <a:noFill/>
          <a:ln>
            <a:noFill/>
          </a:ln>
        </p:spPr>
      </p:pic>
      <p:sp>
        <p:nvSpPr>
          <p:cNvPr id="778" name="Google Shape;778;p48"/>
          <p:cNvSpPr txBox="1"/>
          <p:nvPr/>
        </p:nvSpPr>
        <p:spPr>
          <a:xfrm>
            <a:off x="4645767" y="6119301"/>
            <a:ext cx="2900466" cy="46166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ABC476"/>
              </a:buClr>
              <a:buSzPts val="2400"/>
              <a:buFont typeface="Arial"/>
              <a:buNone/>
              <a:tabLst/>
              <a:defRPr/>
            </a:pPr>
            <a:r>
              <a:rPr kumimoji="0" lang="es-ES" sz="2400" b="0" i="0" u="none" strike="noStrike" kern="0" cap="none" spc="0" normalizeH="0" baseline="0" noProof="0">
                <a:ln>
                  <a:noFill/>
                </a:ln>
                <a:solidFill>
                  <a:srgbClr val="ABC476"/>
                </a:solidFill>
                <a:effectLst/>
                <a:uLnTx/>
                <a:uFillTx/>
                <a:latin typeface="Arial"/>
                <a:ea typeface="Arial"/>
                <a:cs typeface="Arial"/>
                <a:sym typeface="Arial"/>
              </a:rPr>
              <a:t>Residues186–486</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3" name="Google Shape;770;p47">
            <a:extLst>
              <a:ext uri="{FF2B5EF4-FFF2-40B4-BE49-F238E27FC236}">
                <a16:creationId xmlns:a16="http://schemas.microsoft.com/office/drawing/2014/main" id="{7A190B1E-B4AC-95A9-B36F-ADD372DF8FC9}"/>
              </a:ext>
            </a:extLst>
          </p:cNvPr>
          <p:cNvSpPr txBox="1"/>
          <p:nvPr/>
        </p:nvSpPr>
        <p:spPr>
          <a:xfrm>
            <a:off x="1335549" y="274220"/>
            <a:ext cx="9520903" cy="523180"/>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Protein</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sequence</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8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of</a:t>
            </a:r>
            <a:r>
              <a:rPr kumimoji="0" lang="es-ES" sz="28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Pikp-1</a:t>
            </a:r>
            <a:endParaRPr kumimoji="0" sz="2800" b="1" i="1"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2"/>
        <p:cNvGrpSpPr/>
        <p:nvPr/>
      </p:nvGrpSpPr>
      <p:grpSpPr>
        <a:xfrm>
          <a:off x="0" y="0"/>
          <a:ext cx="0" cy="0"/>
          <a:chOff x="0" y="0"/>
          <a:chExt cx="0" cy="0"/>
        </a:xfrm>
      </p:grpSpPr>
      <p:sp>
        <p:nvSpPr>
          <p:cNvPr id="783" name="Google Shape;783;p49"/>
          <p:cNvSpPr txBox="1"/>
          <p:nvPr/>
        </p:nvSpPr>
        <p:spPr>
          <a:xfrm>
            <a:off x="1335549" y="192739"/>
            <a:ext cx="9520903" cy="584775"/>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sz="32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Domain </a:t>
            </a:r>
            <a:r>
              <a:rPr kumimoji="0" lang="es-ES" sz="32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architecture</a:t>
            </a:r>
            <a:r>
              <a:rPr kumimoji="0" lang="es-ES" sz="32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32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of</a:t>
            </a:r>
            <a:r>
              <a:rPr kumimoji="0" lang="es-ES" sz="32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Pikp-1</a:t>
            </a:r>
            <a:endParaRPr kumimoji="0" sz="1800" b="0" i="0" u="none" strike="noStrike" kern="0" cap="none" spc="0" normalizeH="0" baseline="0" noProof="0" dirty="0">
              <a:ln>
                <a:noFill/>
              </a:ln>
              <a:solidFill>
                <a:srgbClr val="000000"/>
              </a:solidFill>
              <a:effectLst/>
              <a:uLnTx/>
              <a:uFillTx/>
              <a:latin typeface="Cambria" panose="02040503050406030204" pitchFamily="18" charset="0"/>
              <a:ea typeface="Arial"/>
              <a:cs typeface="Arial"/>
              <a:sym typeface="Arial"/>
            </a:endParaRPr>
          </a:p>
        </p:txBody>
      </p:sp>
      <p:sp>
        <p:nvSpPr>
          <p:cNvPr id="784" name="Google Shape;784;p49"/>
          <p:cNvSpPr txBox="1"/>
          <p:nvPr/>
        </p:nvSpPr>
        <p:spPr>
          <a:xfrm>
            <a:off x="2397919" y="1133149"/>
            <a:ext cx="2142332"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dirty="0" err="1">
                <a:ln>
                  <a:noFill/>
                </a:ln>
                <a:solidFill>
                  <a:srgbClr val="000000"/>
                </a:solidFill>
                <a:effectLst/>
                <a:uLnTx/>
                <a:uFillTx/>
                <a:latin typeface="Arial"/>
                <a:ea typeface="Arial"/>
                <a:cs typeface="Arial"/>
                <a:sym typeface="Arial"/>
              </a:rPr>
              <a:t>Residues</a:t>
            </a:r>
            <a:r>
              <a:rPr kumimoji="0" lang="es-ES" sz="1800" b="0" i="0" u="none" strike="noStrike" kern="0" cap="none" spc="0" normalizeH="0" baseline="0" noProof="0" dirty="0">
                <a:ln>
                  <a:noFill/>
                </a:ln>
                <a:solidFill>
                  <a:srgbClr val="000000"/>
                </a:solidFill>
                <a:effectLst/>
                <a:uLnTx/>
                <a:uFillTx/>
                <a:latin typeface="Arial"/>
                <a:ea typeface="Arial"/>
                <a:cs typeface="Arial"/>
                <a:sym typeface="Arial"/>
              </a:rPr>
              <a:t> 186–486</a:t>
            </a: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nvGrpSpPr>
          <p:cNvPr id="785" name="Google Shape;785;p49"/>
          <p:cNvGrpSpPr/>
          <p:nvPr/>
        </p:nvGrpSpPr>
        <p:grpSpPr>
          <a:xfrm>
            <a:off x="368133" y="2457001"/>
            <a:ext cx="6969459" cy="3829499"/>
            <a:chOff x="2731754" y="3031957"/>
            <a:chExt cx="6385591" cy="3461853"/>
          </a:xfrm>
        </p:grpSpPr>
        <p:pic>
          <p:nvPicPr>
            <p:cNvPr id="786" name="Google Shape;786;p49"/>
            <p:cNvPicPr preferRelativeResize="0"/>
            <p:nvPr/>
          </p:nvPicPr>
          <p:blipFill rotWithShape="1">
            <a:blip r:embed="rId3">
              <a:alphaModFix/>
            </a:blip>
            <a:srcRect t="22598" r="20811"/>
            <a:stretch/>
          </p:blipFill>
          <p:spPr>
            <a:xfrm>
              <a:off x="2731754" y="3031957"/>
              <a:ext cx="6385591" cy="3461853"/>
            </a:xfrm>
            <a:prstGeom prst="rect">
              <a:avLst/>
            </a:prstGeom>
            <a:noFill/>
            <a:ln w="9525" cap="flat" cmpd="sng">
              <a:solidFill>
                <a:srgbClr val="082836"/>
              </a:solidFill>
              <a:prstDash val="solid"/>
              <a:round/>
              <a:headEnd type="none" w="sm" len="sm"/>
              <a:tailEnd type="none" w="sm" len="sm"/>
            </a:ln>
          </p:spPr>
        </p:pic>
        <p:sp>
          <p:nvSpPr>
            <p:cNvPr id="787" name="Google Shape;787;p49"/>
            <p:cNvSpPr/>
            <p:nvPr/>
          </p:nvSpPr>
          <p:spPr>
            <a:xfrm>
              <a:off x="2882900" y="3189567"/>
              <a:ext cx="914400" cy="3140895"/>
            </a:xfrm>
            <a:prstGeom prst="rect">
              <a:avLst/>
            </a:prstGeom>
            <a:solidFill>
              <a:srgbClr val="B3B3B3">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788" name="Google Shape;788;p49"/>
            <p:cNvSpPr/>
            <p:nvPr/>
          </p:nvSpPr>
          <p:spPr>
            <a:xfrm>
              <a:off x="3888157" y="3189567"/>
              <a:ext cx="443806" cy="3140895"/>
            </a:xfrm>
            <a:prstGeom prst="rect">
              <a:avLst/>
            </a:prstGeom>
            <a:solidFill>
              <a:srgbClr val="FFD048">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789" name="Google Shape;789;p49"/>
            <p:cNvSpPr/>
            <p:nvPr/>
          </p:nvSpPr>
          <p:spPr>
            <a:xfrm>
              <a:off x="4413851" y="3189567"/>
              <a:ext cx="1188556" cy="3140895"/>
            </a:xfrm>
            <a:prstGeom prst="rect">
              <a:avLst/>
            </a:prstGeom>
            <a:solidFill>
              <a:srgbClr val="7EA829">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790" name="Google Shape;790;p49"/>
            <p:cNvSpPr/>
            <p:nvPr/>
          </p:nvSpPr>
          <p:spPr>
            <a:xfrm>
              <a:off x="6491304" y="3189567"/>
              <a:ext cx="2181058" cy="3140895"/>
            </a:xfrm>
            <a:prstGeom prst="rect">
              <a:avLst/>
            </a:prstGeom>
            <a:solidFill>
              <a:srgbClr val="B3B3B3">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sp>
        <p:nvSpPr>
          <p:cNvPr id="791" name="Google Shape;791;p49"/>
          <p:cNvSpPr txBox="1"/>
          <p:nvPr/>
        </p:nvSpPr>
        <p:spPr>
          <a:xfrm>
            <a:off x="1684734" y="6324505"/>
            <a:ext cx="433625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Domain annotation from InterProScan</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792" name="Google Shape;792;p49"/>
          <p:cNvPicPr preferRelativeResize="0"/>
          <p:nvPr/>
        </p:nvPicPr>
        <p:blipFill rotWithShape="1">
          <a:blip r:embed="rId4">
            <a:alphaModFix/>
          </a:blip>
          <a:srcRect l="17240" t="5815" r="27347" b="11157"/>
          <a:stretch/>
        </p:blipFill>
        <p:spPr>
          <a:xfrm>
            <a:off x="8120081" y="1934818"/>
            <a:ext cx="3299050" cy="4012050"/>
          </a:xfrm>
          <a:prstGeom prst="rect">
            <a:avLst/>
          </a:prstGeom>
          <a:noFill/>
          <a:ln>
            <a:noFill/>
          </a:ln>
        </p:spPr>
      </p:pic>
      <p:pic>
        <p:nvPicPr>
          <p:cNvPr id="793" name="Google Shape;793;p49"/>
          <p:cNvPicPr preferRelativeResize="0"/>
          <p:nvPr/>
        </p:nvPicPr>
        <p:blipFill rotWithShape="1">
          <a:blip r:embed="rId5">
            <a:alphaModFix/>
          </a:blip>
          <a:srcRect/>
          <a:stretch/>
        </p:blipFill>
        <p:spPr>
          <a:xfrm>
            <a:off x="2114658" y="1540486"/>
            <a:ext cx="3299050" cy="468465"/>
          </a:xfrm>
          <a:prstGeom prst="rect">
            <a:avLst/>
          </a:prstGeom>
          <a:noFill/>
          <a:ln>
            <a:noFill/>
          </a:ln>
        </p:spPr>
      </p:pic>
      <p:sp>
        <p:nvSpPr>
          <p:cNvPr id="794" name="Google Shape;794;p49"/>
          <p:cNvSpPr txBox="1"/>
          <p:nvPr/>
        </p:nvSpPr>
        <p:spPr>
          <a:xfrm>
            <a:off x="7875783" y="4841906"/>
            <a:ext cx="396122"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N</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795" name="Google Shape;795;p49"/>
          <p:cNvSpPr txBox="1"/>
          <p:nvPr/>
        </p:nvSpPr>
        <p:spPr>
          <a:xfrm>
            <a:off x="10807949" y="4555998"/>
            <a:ext cx="396122"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C</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1</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Modelling individual structures of proteins</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2</a:t>
            </a:r>
            <a:endParaRPr lang="en-US" sz="900" dirty="0"/>
          </a:p>
        </p:txBody>
      </p:sp>
      <p:sp>
        <p:nvSpPr>
          <p:cNvPr id="6" name="Text 4"/>
          <p:cNvSpPr/>
          <p:nvPr/>
        </p:nvSpPr>
        <p:spPr>
          <a:xfrm>
            <a:off x="566928" y="1417320"/>
            <a:ext cx="11057839" cy="822960"/>
          </a:xfrm>
          <a:prstGeom prst="rect">
            <a:avLst/>
          </a:prstGeom>
          <a:noFill/>
          <a:ln/>
        </p:spPr>
        <p:txBody>
          <a:bodyPr wrap="square" lIns="0" tIns="0" rIns="0" bIns="0" rtlCol="0" anchor="t"/>
          <a:lstStyle/>
          <a:p>
            <a:pPr marL="0" indent="0" algn="l">
              <a:lnSpc>
                <a:spcPct val="106000"/>
              </a:lnSpc>
              <a:spcAft>
                <a:spcPts val="900"/>
              </a:spcAft>
              <a:buNone/>
            </a:pPr>
            <a:r>
              <a:rPr lang="en-US" sz="1600" dirty="0">
                <a:solidFill>
                  <a:srgbClr val="233240"/>
                </a:solidFill>
                <a:latin typeface="Calibri" pitchFamily="34" charset="0"/>
                <a:ea typeface="Calibri" pitchFamily="34" charset="-122"/>
                <a:cs typeface="Calibri" pitchFamily="34" charset="-120"/>
              </a:rPr>
              <a:t>In this exercise, you will model the structure of the partial sequence of the rice immune receptor protein, </a:t>
            </a:r>
            <a:r>
              <a:rPr lang="en-US" sz="1600" b="1" dirty="0">
                <a:solidFill>
                  <a:srgbClr val="1E6B88"/>
                </a:solidFill>
                <a:latin typeface="Calibri" pitchFamily="34" charset="0"/>
                <a:ea typeface="Calibri" pitchFamily="34" charset="-122"/>
                <a:cs typeface="Calibri" pitchFamily="34" charset="-120"/>
              </a:rPr>
              <a:t>Pikp-1</a:t>
            </a:r>
            <a:r>
              <a:rPr lang="en-US" sz="1600" dirty="0">
                <a:solidFill>
                  <a:srgbClr val="233240"/>
                </a:solidFill>
                <a:latin typeface="Calibri" pitchFamily="34" charset="0"/>
                <a:ea typeface="Calibri" pitchFamily="34" charset="-122"/>
                <a:cs typeface="Calibri" pitchFamily="34" charset="-120"/>
              </a:rPr>
              <a:t>.</a:t>
            </a:r>
            <a:endParaRPr lang="en-US" sz="1600" dirty="0"/>
          </a:p>
        </p:txBody>
      </p:sp>
      <p:sp>
        <p:nvSpPr>
          <p:cNvPr id="7" name="Text 5"/>
          <p:cNvSpPr/>
          <p:nvPr/>
        </p:nvSpPr>
        <p:spPr>
          <a:xfrm>
            <a:off x="566928" y="2148840"/>
            <a:ext cx="11057839" cy="457200"/>
          </a:xfrm>
          <a:prstGeom prst="rect">
            <a:avLst/>
          </a:prstGeom>
          <a:noFill/>
          <a:ln/>
        </p:spPr>
        <p:txBody>
          <a:bodyPr wrap="square" lIns="0" tIns="0" rIns="0" bIns="0" rtlCol="0" anchor="t"/>
          <a:lstStyle/>
          <a:p>
            <a:pPr marL="0" indent="0" algn="l">
              <a:lnSpc>
                <a:spcPct val="106000"/>
              </a:lnSpc>
              <a:spcAft>
                <a:spcPts val="900"/>
              </a:spcAft>
              <a:buNone/>
            </a:pPr>
            <a:r>
              <a:rPr lang="en-US" sz="1600" dirty="0">
                <a:solidFill>
                  <a:srgbClr val="233240"/>
                </a:solidFill>
                <a:latin typeface="Calibri" pitchFamily="34" charset="0"/>
                <a:ea typeface="Calibri" pitchFamily="34" charset="-122"/>
                <a:cs typeface="Calibri" pitchFamily="34" charset="-120"/>
              </a:rPr>
              <a:t>To begin, navigate to </a:t>
            </a:r>
            <a:r>
              <a:rPr lang="en-US" sz="1600" b="1" dirty="0">
                <a:solidFill>
                  <a:srgbClr val="2B89AD"/>
                </a:solidFill>
                <a:latin typeface="Calibri" pitchFamily="34" charset="0"/>
                <a:ea typeface="Calibri" pitchFamily="34" charset="-122"/>
                <a:cs typeface="Calibri" pitchFamily="34" charset="-120"/>
              </a:rPr>
              <a:t>https://alphafoldserver.com/</a:t>
            </a:r>
            <a:r>
              <a:rPr lang="en-US" sz="1600" dirty="0">
                <a:solidFill>
                  <a:srgbClr val="233240"/>
                </a:solidFill>
                <a:latin typeface="Calibri" pitchFamily="34" charset="0"/>
                <a:ea typeface="Calibri" pitchFamily="34" charset="-122"/>
                <a:cs typeface="Calibri" pitchFamily="34" charset="-120"/>
              </a:rPr>
              <a:t>, create an account, and submit your first job:</a:t>
            </a:r>
            <a:endParaRPr lang="en-US" sz="1600" dirty="0"/>
          </a:p>
        </p:txBody>
      </p:sp>
      <p:sp>
        <p:nvSpPr>
          <p:cNvPr id="8" name="Shape 6"/>
          <p:cNvSpPr/>
          <p:nvPr/>
        </p:nvSpPr>
        <p:spPr>
          <a:xfrm>
            <a:off x="566928" y="2788920"/>
            <a:ext cx="11057839" cy="1239070"/>
          </a:xfrm>
          <a:prstGeom prst="roundRect">
            <a:avLst>
              <a:gd name="adj" fmla="val 2128"/>
            </a:avLst>
          </a:prstGeom>
          <a:solidFill>
            <a:srgbClr val="F4F8FA"/>
          </a:solidFill>
          <a:ln w="12700">
            <a:solidFill>
              <a:srgbClr val="D6E2E8"/>
            </a:solidFill>
            <a:prstDash val="solid"/>
          </a:ln>
        </p:spPr>
        <p:txBody>
          <a:bodyPr/>
          <a:lstStyle/>
          <a:p>
            <a:endParaRPr lang="en-US"/>
          </a:p>
        </p:txBody>
      </p:sp>
      <p:sp>
        <p:nvSpPr>
          <p:cNvPr id="9" name="Text 7"/>
          <p:cNvSpPr/>
          <p:nvPr/>
        </p:nvSpPr>
        <p:spPr>
          <a:xfrm>
            <a:off x="731520" y="2898648"/>
            <a:ext cx="10728655" cy="274320"/>
          </a:xfrm>
          <a:prstGeom prst="rect">
            <a:avLst/>
          </a:prstGeom>
          <a:noFill/>
          <a:ln/>
        </p:spPr>
        <p:txBody>
          <a:bodyPr wrap="square" lIns="0" tIns="0" rIns="0" bIns="0" rtlCol="0" anchor="ctr"/>
          <a:lstStyle/>
          <a:p>
            <a:pPr marL="0" indent="0" algn="l">
              <a:buNone/>
            </a:pPr>
            <a:r>
              <a:rPr lang="en-US" sz="1400" b="1" dirty="0">
                <a:solidFill>
                  <a:srgbClr val="1E6B88"/>
                </a:solidFill>
                <a:latin typeface="Courier New" pitchFamily="34" charset="0"/>
                <a:ea typeface="Courier New" pitchFamily="34" charset="-122"/>
                <a:cs typeface="Courier New" pitchFamily="34" charset="-120"/>
              </a:rPr>
              <a:t>&gt;Pikp-1_186-486</a:t>
            </a:r>
            <a:endParaRPr lang="en-US" sz="1400" dirty="0"/>
          </a:p>
        </p:txBody>
      </p:sp>
      <p:sp>
        <p:nvSpPr>
          <p:cNvPr id="10" name="Text 8"/>
          <p:cNvSpPr/>
          <p:nvPr/>
        </p:nvSpPr>
        <p:spPr>
          <a:xfrm>
            <a:off x="731520" y="3209544"/>
            <a:ext cx="10728655" cy="1618488"/>
          </a:xfrm>
          <a:prstGeom prst="rect">
            <a:avLst/>
          </a:prstGeom>
          <a:noFill/>
          <a:ln/>
        </p:spPr>
        <p:txBody>
          <a:bodyPr wrap="square" lIns="0" tIns="0" rIns="0" bIns="0" rtlCol="0" anchor="t"/>
          <a:lstStyle/>
          <a:p>
            <a:pPr marL="0" indent="0" algn="l">
              <a:lnSpc>
                <a:spcPct val="102000"/>
              </a:lnSpc>
              <a:buNone/>
            </a:pPr>
            <a:r>
              <a:rPr lang="en-US" sz="1150" dirty="0">
                <a:solidFill>
                  <a:srgbClr val="33454F"/>
                </a:solidFill>
                <a:latin typeface="Courier New" pitchFamily="34" charset="0"/>
                <a:ea typeface="Courier New" pitchFamily="34" charset="-122"/>
                <a:cs typeface="Courier New" pitchFamily="34" charset="-120"/>
              </a:rPr>
              <a:t>GLKQKIVIKVAMEGNNCRSKAMALVASTGGVDSVALVGDLRDKIEVVGYGIDPIKLISALRKKVGDAELLQVSQANKDVKETTPMLAPVKSICEFHKVKTVCILGLPGGGKTTVARELYDALGTHFPCRVFVSVSPSSSPSPNLTKTLADIFAQAQLGVTDTLSTSYGGSGTGRALQQHLIDNISAFLLNKKYLIVIDDIWHWEEWEVIRKSIPKNDLGGRIIMTTRLNSIAEKCHTDDNDVFVYEVGDLDNNDALSLSWGIATKSGAGNRIGTGEDNPCYDIVNMCYGMPLALIWLSSAL</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1</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Modelling individual structures of proteins</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566928" y="1463040"/>
            <a:ext cx="11057839" cy="2579571"/>
          </a:xfrm>
          <a:prstGeom prst="roundRect">
            <a:avLst>
              <a:gd name="adj" fmla="val 1609"/>
            </a:avLst>
          </a:prstGeom>
          <a:solidFill>
            <a:srgbClr val="FBF0DC"/>
          </a:solidFill>
          <a:ln w="15875">
            <a:solidFill>
              <a:srgbClr val="EBCF9A"/>
            </a:solidFill>
            <a:prstDash val="solid"/>
          </a:ln>
        </p:spPr>
        <p:txBody>
          <a:bodyPr/>
          <a:lstStyle/>
          <a:p>
            <a:endParaRPr lang="en-US"/>
          </a:p>
        </p:txBody>
      </p:sp>
      <p:sp>
        <p:nvSpPr>
          <p:cNvPr id="7" name="Shape 5"/>
          <p:cNvSpPr/>
          <p:nvPr/>
        </p:nvSpPr>
        <p:spPr>
          <a:xfrm>
            <a:off x="822960" y="1700784"/>
            <a:ext cx="457200" cy="457200"/>
          </a:xfrm>
          <a:prstGeom prst="ellipse">
            <a:avLst/>
          </a:prstGeom>
          <a:solidFill>
            <a:srgbClr val="D98B2B"/>
          </a:solidFill>
          <a:ln/>
        </p:spPr>
        <p:txBody>
          <a:bodyPr/>
          <a:lstStyle/>
          <a:p>
            <a:endParaRPr lang="en-US"/>
          </a:p>
        </p:txBody>
      </p:sp>
      <p:sp>
        <p:nvSpPr>
          <p:cNvPr id="8" name="Text 6"/>
          <p:cNvSpPr/>
          <p:nvPr/>
        </p:nvSpPr>
        <p:spPr>
          <a:xfrm>
            <a:off x="822960" y="1682496"/>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9" name="Text 7"/>
          <p:cNvSpPr/>
          <p:nvPr/>
        </p:nvSpPr>
        <p:spPr>
          <a:xfrm>
            <a:off x="1435608" y="1719072"/>
            <a:ext cx="9960559" cy="365760"/>
          </a:xfrm>
          <a:prstGeom prst="rect">
            <a:avLst/>
          </a:prstGeom>
          <a:noFill/>
          <a:ln/>
        </p:spPr>
        <p:txBody>
          <a:bodyPr wrap="square" lIns="0" tIns="0" rIns="0" bIns="0" rtlCol="0" anchor="ctr"/>
          <a:lstStyle/>
          <a:p>
            <a:pPr marL="0" indent="0" algn="l">
              <a:buNone/>
            </a:pPr>
            <a:r>
              <a:rPr lang="en-US" sz="1400" b="1" kern="0" spc="200" dirty="0">
                <a:solidFill>
                  <a:srgbClr val="9A6410"/>
                </a:solidFill>
                <a:latin typeface="Calibri" pitchFamily="34" charset="0"/>
                <a:ea typeface="Calibri" pitchFamily="34" charset="-122"/>
                <a:cs typeface="Calibri" pitchFamily="34" charset="-120"/>
              </a:rPr>
              <a:t>DISCUSSION</a:t>
            </a:r>
            <a:endParaRPr lang="en-US" sz="1400" dirty="0"/>
          </a:p>
        </p:txBody>
      </p:sp>
      <p:sp>
        <p:nvSpPr>
          <p:cNvPr id="10" name="Text 8"/>
          <p:cNvSpPr/>
          <p:nvPr/>
        </p:nvSpPr>
        <p:spPr>
          <a:xfrm>
            <a:off x="1435608" y="2176272"/>
            <a:ext cx="9914839" cy="3108960"/>
          </a:xfrm>
          <a:prstGeom prst="rect">
            <a:avLst/>
          </a:prstGeom>
          <a:noFill/>
          <a:ln/>
        </p:spPr>
        <p:txBody>
          <a:bodyPr wrap="square" lIns="0" tIns="0" rIns="0" bIns="0" rtlCol="0" anchor="t"/>
          <a:lstStyle/>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a)  </a:t>
            </a:r>
            <a:r>
              <a:rPr lang="en-US" sz="1600" dirty="0">
                <a:solidFill>
                  <a:srgbClr val="5A4218"/>
                </a:solidFill>
                <a:latin typeface="Calibri" pitchFamily="34" charset="0"/>
                <a:ea typeface="Calibri" pitchFamily="34" charset="-122"/>
                <a:cs typeface="Calibri" pitchFamily="34" charset="-120"/>
              </a:rPr>
              <a:t>What does pTM stand for? What is the pTM score for the prediction?</a:t>
            </a:r>
            <a:endParaRPr lang="en-US" sz="1600" dirty="0"/>
          </a:p>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b)  </a:t>
            </a:r>
            <a:r>
              <a:rPr lang="en-US" sz="1600" dirty="0">
                <a:solidFill>
                  <a:srgbClr val="5A4218"/>
                </a:solidFill>
                <a:latin typeface="Calibri" pitchFamily="34" charset="0"/>
                <a:ea typeface="Calibri" pitchFamily="34" charset="-122"/>
                <a:cs typeface="Calibri" pitchFamily="34" charset="-120"/>
              </a:rPr>
              <a:t>What can you say about the local measure of confidence (pLDDT)? Is it high all over the model? Are there any amino acids predicted with higher confidence than others?</a:t>
            </a:r>
            <a:endParaRPr lang="en-US" sz="1600" dirty="0"/>
          </a:p>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c)  </a:t>
            </a:r>
            <a:r>
              <a:rPr lang="en-US" sz="1600" dirty="0">
                <a:solidFill>
                  <a:srgbClr val="5A4218"/>
                </a:solidFill>
                <a:latin typeface="Calibri" pitchFamily="34" charset="0"/>
                <a:ea typeface="Calibri" pitchFamily="34" charset="-122"/>
                <a:cs typeface="Calibri" pitchFamily="34" charset="-120"/>
              </a:rPr>
              <a:t>What can you say about the predicted aligned error (PAE) plot? Are there any regions where the relative positions are unreliable?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99"/>
        <p:cNvGrpSpPr/>
        <p:nvPr/>
      </p:nvGrpSpPr>
      <p:grpSpPr>
        <a:xfrm>
          <a:off x="0" y="0"/>
          <a:ext cx="0" cy="0"/>
          <a:chOff x="0" y="0"/>
          <a:chExt cx="0" cy="0"/>
        </a:xfrm>
      </p:grpSpPr>
      <p:sp>
        <p:nvSpPr>
          <p:cNvPr id="800" name="Google Shape;800;p50"/>
          <p:cNvSpPr txBox="1"/>
          <p:nvPr/>
        </p:nvSpPr>
        <p:spPr>
          <a:xfrm>
            <a:off x="1335549" y="393506"/>
            <a:ext cx="9520903" cy="461624"/>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sz="24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Domain </a:t>
            </a:r>
            <a:r>
              <a:rPr kumimoji="0" lang="es-ES" sz="24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architecture</a:t>
            </a:r>
            <a:r>
              <a:rPr kumimoji="0" lang="es-ES" sz="24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and PAE </a:t>
            </a:r>
            <a:r>
              <a:rPr kumimoji="0" lang="es-ES" sz="24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plot</a:t>
            </a:r>
            <a:r>
              <a:rPr kumimoji="0" lang="es-ES" sz="24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a:t>
            </a:r>
            <a:r>
              <a:rPr kumimoji="0" lang="es-ES" sz="2400" b="1" i="0" u="none" strike="noStrike" kern="0" cap="none" spc="0" normalizeH="0" baseline="0" noProof="0" dirty="0" err="1">
                <a:ln>
                  <a:noFill/>
                </a:ln>
                <a:solidFill>
                  <a:srgbClr val="000000"/>
                </a:solidFill>
                <a:effectLst/>
                <a:uLnTx/>
                <a:uFillTx/>
                <a:latin typeface="Cambria" panose="02040503050406030204" pitchFamily="18" charset="0"/>
                <a:ea typeface="Play"/>
                <a:cs typeface="Play"/>
                <a:sym typeface="Play"/>
              </a:rPr>
              <a:t>of</a:t>
            </a:r>
            <a:r>
              <a:rPr kumimoji="0" lang="es-ES" sz="2400" b="1" i="0" u="none" strike="noStrike" kern="0" cap="none" spc="0" normalizeH="0" baseline="0" noProof="0" dirty="0">
                <a:ln>
                  <a:noFill/>
                </a:ln>
                <a:solidFill>
                  <a:srgbClr val="000000"/>
                </a:solidFill>
                <a:effectLst/>
                <a:uLnTx/>
                <a:uFillTx/>
                <a:latin typeface="Cambria" panose="02040503050406030204" pitchFamily="18" charset="0"/>
                <a:ea typeface="Play"/>
                <a:cs typeface="Play"/>
                <a:sym typeface="Play"/>
              </a:rPr>
              <a:t> Pikp-1</a:t>
            </a:r>
            <a:endParaRPr kumimoji="0" sz="1400" b="0" i="0" u="none" strike="noStrike" kern="0" cap="none" spc="0" normalizeH="0" baseline="0" noProof="0" dirty="0">
              <a:ln>
                <a:noFill/>
              </a:ln>
              <a:solidFill>
                <a:srgbClr val="000000"/>
              </a:solidFill>
              <a:effectLst/>
              <a:uLnTx/>
              <a:uFillTx/>
              <a:latin typeface="Cambria" panose="02040503050406030204" pitchFamily="18" charset="0"/>
              <a:ea typeface="Arial"/>
              <a:cs typeface="Arial"/>
              <a:sym typeface="Arial"/>
            </a:endParaRPr>
          </a:p>
        </p:txBody>
      </p:sp>
      <p:sp>
        <p:nvSpPr>
          <p:cNvPr id="801" name="Google Shape;801;p50"/>
          <p:cNvSpPr txBox="1"/>
          <p:nvPr/>
        </p:nvSpPr>
        <p:spPr>
          <a:xfrm>
            <a:off x="2397919" y="1133149"/>
            <a:ext cx="2142332"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Residues186–486</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nvGrpSpPr>
          <p:cNvPr id="802" name="Google Shape;802;p50"/>
          <p:cNvGrpSpPr/>
          <p:nvPr/>
        </p:nvGrpSpPr>
        <p:grpSpPr>
          <a:xfrm>
            <a:off x="368133" y="2457001"/>
            <a:ext cx="6969459" cy="3829499"/>
            <a:chOff x="2731754" y="3031957"/>
            <a:chExt cx="6385591" cy="3461853"/>
          </a:xfrm>
        </p:grpSpPr>
        <p:pic>
          <p:nvPicPr>
            <p:cNvPr id="803" name="Google Shape;803;p50"/>
            <p:cNvPicPr preferRelativeResize="0"/>
            <p:nvPr/>
          </p:nvPicPr>
          <p:blipFill rotWithShape="1">
            <a:blip r:embed="rId3">
              <a:alphaModFix/>
            </a:blip>
            <a:srcRect t="22598" r="20811"/>
            <a:stretch/>
          </p:blipFill>
          <p:spPr>
            <a:xfrm>
              <a:off x="2731754" y="3031957"/>
              <a:ext cx="6385591" cy="3461853"/>
            </a:xfrm>
            <a:prstGeom prst="rect">
              <a:avLst/>
            </a:prstGeom>
            <a:noFill/>
            <a:ln w="9525" cap="flat" cmpd="sng">
              <a:solidFill>
                <a:srgbClr val="082836"/>
              </a:solidFill>
              <a:prstDash val="solid"/>
              <a:round/>
              <a:headEnd type="none" w="sm" len="sm"/>
              <a:tailEnd type="none" w="sm" len="sm"/>
            </a:ln>
          </p:spPr>
        </p:pic>
        <p:sp>
          <p:nvSpPr>
            <p:cNvPr id="804" name="Google Shape;804;p50"/>
            <p:cNvSpPr/>
            <p:nvPr/>
          </p:nvSpPr>
          <p:spPr>
            <a:xfrm>
              <a:off x="2882900" y="3189567"/>
              <a:ext cx="914400" cy="3140895"/>
            </a:xfrm>
            <a:prstGeom prst="rect">
              <a:avLst/>
            </a:prstGeom>
            <a:solidFill>
              <a:srgbClr val="B3B3B3">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05" name="Google Shape;805;p50"/>
            <p:cNvSpPr/>
            <p:nvPr/>
          </p:nvSpPr>
          <p:spPr>
            <a:xfrm>
              <a:off x="3888157" y="3189567"/>
              <a:ext cx="443806" cy="3140895"/>
            </a:xfrm>
            <a:prstGeom prst="rect">
              <a:avLst/>
            </a:prstGeom>
            <a:solidFill>
              <a:srgbClr val="FFD048">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06" name="Google Shape;806;p50"/>
            <p:cNvSpPr/>
            <p:nvPr/>
          </p:nvSpPr>
          <p:spPr>
            <a:xfrm>
              <a:off x="4413851" y="3189567"/>
              <a:ext cx="1188556" cy="3140895"/>
            </a:xfrm>
            <a:prstGeom prst="rect">
              <a:avLst/>
            </a:prstGeom>
            <a:solidFill>
              <a:srgbClr val="7EA829">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07" name="Google Shape;807;p50"/>
            <p:cNvSpPr/>
            <p:nvPr/>
          </p:nvSpPr>
          <p:spPr>
            <a:xfrm>
              <a:off x="6491304" y="3189567"/>
              <a:ext cx="2181058" cy="3140895"/>
            </a:xfrm>
            <a:prstGeom prst="rect">
              <a:avLst/>
            </a:prstGeom>
            <a:solidFill>
              <a:srgbClr val="B3B3B3">
                <a:alpha val="30196"/>
              </a:srgbClr>
            </a:solidFill>
            <a:ln>
              <a:noFill/>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sp>
        <p:nvSpPr>
          <p:cNvPr id="808" name="Google Shape;808;p50"/>
          <p:cNvSpPr txBox="1"/>
          <p:nvPr/>
        </p:nvSpPr>
        <p:spPr>
          <a:xfrm>
            <a:off x="1684734" y="6324505"/>
            <a:ext cx="433625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Domain annotation from InterProScan</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pic>
        <p:nvPicPr>
          <p:cNvPr id="809" name="Google Shape;809;p50"/>
          <p:cNvPicPr preferRelativeResize="0"/>
          <p:nvPr/>
        </p:nvPicPr>
        <p:blipFill rotWithShape="1">
          <a:blip r:embed="rId4">
            <a:alphaModFix/>
          </a:blip>
          <a:srcRect/>
          <a:stretch/>
        </p:blipFill>
        <p:spPr>
          <a:xfrm>
            <a:off x="2114658" y="1540486"/>
            <a:ext cx="3299050" cy="468465"/>
          </a:xfrm>
          <a:prstGeom prst="rect">
            <a:avLst/>
          </a:prstGeom>
          <a:noFill/>
          <a:ln>
            <a:noFill/>
          </a:ln>
        </p:spPr>
      </p:pic>
      <p:pic>
        <p:nvPicPr>
          <p:cNvPr id="810" name="Google Shape;810;p50" descr="A green graph with numbers and a grid&#10;&#10;AI-generated content may be incorrect."/>
          <p:cNvPicPr preferRelativeResize="0"/>
          <p:nvPr/>
        </p:nvPicPr>
        <p:blipFill rotWithShape="1">
          <a:blip r:embed="rId5">
            <a:alphaModFix/>
          </a:blip>
          <a:srcRect/>
          <a:stretch/>
        </p:blipFill>
        <p:spPr>
          <a:xfrm>
            <a:off x="7613334" y="1409103"/>
            <a:ext cx="4361493" cy="5256158"/>
          </a:xfrm>
          <a:prstGeom prst="rect">
            <a:avLst/>
          </a:prstGeom>
          <a:noFill/>
          <a:ln>
            <a:noFill/>
          </a:ln>
        </p:spPr>
      </p:pic>
      <p:sp>
        <p:nvSpPr>
          <p:cNvPr id="811" name="Google Shape;811;p50"/>
          <p:cNvSpPr/>
          <p:nvPr/>
        </p:nvSpPr>
        <p:spPr>
          <a:xfrm>
            <a:off x="8256172" y="1594409"/>
            <a:ext cx="922551" cy="908892"/>
          </a:xfrm>
          <a:prstGeom prst="rect">
            <a:avLst/>
          </a:prstGeom>
          <a:noFill/>
          <a:ln w="44450" cap="flat" cmpd="sng">
            <a:solidFill>
              <a:srgbClr val="FFCE4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12" name="Google Shape;812;p50"/>
          <p:cNvSpPr/>
          <p:nvPr/>
        </p:nvSpPr>
        <p:spPr>
          <a:xfrm>
            <a:off x="9294828" y="2688607"/>
            <a:ext cx="2452521" cy="2431831"/>
          </a:xfrm>
          <a:prstGeom prst="rect">
            <a:avLst/>
          </a:prstGeom>
          <a:noFill/>
          <a:ln w="4445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13" name="Google Shape;813;p50"/>
          <p:cNvSpPr txBox="1"/>
          <p:nvPr/>
        </p:nvSpPr>
        <p:spPr>
          <a:xfrm>
            <a:off x="8328170" y="1225077"/>
            <a:ext cx="778555"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CE4C"/>
              </a:buClr>
              <a:buSzPts val="1800"/>
              <a:buFont typeface="Arial"/>
              <a:buNone/>
              <a:tabLst/>
              <a:defRPr/>
            </a:pPr>
            <a:r>
              <a:rPr kumimoji="0" lang="es-ES" sz="1800" b="1" i="0" u="none" strike="noStrike" kern="0" cap="none" spc="0" normalizeH="0" baseline="0" noProof="0">
                <a:ln>
                  <a:noFill/>
                </a:ln>
                <a:solidFill>
                  <a:srgbClr val="FFCE4C"/>
                </a:solidFill>
                <a:effectLst/>
                <a:uLnTx/>
                <a:uFillTx/>
                <a:latin typeface="Arial"/>
                <a:ea typeface="Arial"/>
                <a:cs typeface="Arial"/>
                <a:sym typeface="Arial"/>
              </a:rPr>
              <a:t>HMA</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14" name="Google Shape;814;p50"/>
          <p:cNvSpPr txBox="1"/>
          <p:nvPr/>
        </p:nvSpPr>
        <p:spPr>
          <a:xfrm>
            <a:off x="9955910" y="2318192"/>
            <a:ext cx="113035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NB-ARC</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2</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Modelling a multimeric complex</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4</a:t>
            </a:r>
            <a:endParaRPr lang="en-US" sz="900" dirty="0"/>
          </a:p>
        </p:txBody>
      </p:sp>
      <p:sp>
        <p:nvSpPr>
          <p:cNvPr id="6" name="Text 4"/>
          <p:cNvSpPr/>
          <p:nvPr/>
        </p:nvSpPr>
        <p:spPr>
          <a:xfrm>
            <a:off x="566928" y="1417320"/>
            <a:ext cx="11057839" cy="1737360"/>
          </a:xfrm>
          <a:prstGeom prst="rect">
            <a:avLst/>
          </a:prstGeom>
          <a:noFill/>
          <a:ln/>
        </p:spPr>
        <p:txBody>
          <a:bodyPr wrap="square" lIns="0" tIns="0" rIns="0" bIns="0" rtlCol="0" anchor="t"/>
          <a:lstStyle/>
          <a:p>
            <a:pPr marL="0" indent="0" algn="l">
              <a:lnSpc>
                <a:spcPct val="106000"/>
              </a:lnSpc>
              <a:spcAft>
                <a:spcPts val="900"/>
              </a:spcAft>
              <a:buNone/>
            </a:pPr>
            <a:r>
              <a:rPr lang="en-US" sz="1550" dirty="0">
                <a:solidFill>
                  <a:srgbClr val="233240"/>
                </a:solidFill>
                <a:latin typeface="Calibri" pitchFamily="34" charset="0"/>
                <a:ea typeface="Calibri" pitchFamily="34" charset="-122"/>
                <a:cs typeface="Calibri" pitchFamily="34" charset="-120"/>
              </a:rPr>
              <a:t>In this exercise, you will explore the oligomeric state predictions for a given protein. You will model the HMA domain of the Pikp-1 protein (from Exercise 1.1) in </a:t>
            </a:r>
            <a:r>
              <a:rPr lang="en-US" sz="1550" b="1" dirty="0">
                <a:solidFill>
                  <a:srgbClr val="1E6B88"/>
                </a:solidFill>
                <a:latin typeface="Calibri" pitchFamily="34" charset="0"/>
                <a:ea typeface="Calibri" pitchFamily="34" charset="-122"/>
                <a:cs typeface="Calibri" pitchFamily="34" charset="-120"/>
              </a:rPr>
              <a:t>dimeric (n=2), trimeric (n=3), and tetrameric (n=4)</a:t>
            </a:r>
            <a:r>
              <a:rPr lang="en-US" sz="1550" dirty="0">
                <a:solidFill>
                  <a:srgbClr val="233240"/>
                </a:solidFill>
                <a:latin typeface="Calibri" pitchFamily="34" charset="0"/>
                <a:ea typeface="Calibri" pitchFamily="34" charset="-122"/>
                <a:cs typeface="Calibri" pitchFamily="34" charset="-120"/>
              </a:rPr>
              <a:t> states.</a:t>
            </a:r>
            <a:endParaRPr lang="en-US" sz="1550" dirty="0"/>
          </a:p>
          <a:p>
            <a:pPr marL="0" indent="0" algn="l">
              <a:lnSpc>
                <a:spcPct val="106000"/>
              </a:lnSpc>
              <a:spcAft>
                <a:spcPts val="900"/>
              </a:spcAft>
              <a:buNone/>
            </a:pPr>
            <a:r>
              <a:rPr lang="en-US" sz="1550" dirty="0">
                <a:solidFill>
                  <a:srgbClr val="233240"/>
                </a:solidFill>
                <a:latin typeface="Calibri" pitchFamily="34" charset="0"/>
                <a:ea typeface="Calibri" pitchFamily="34" charset="-122"/>
                <a:cs typeface="Calibri" pitchFamily="34" charset="-120"/>
              </a:rPr>
              <a:t>Your task is to evaluate the confidence in the relative orientation of the modeled polypeptide chains by interpreting the PAE plots. You will complete the table with predicted pTM and ipTM scores and, based on this, determine the likely oligomeric state (monomer, dimer, trimer, or tetramer).</a:t>
            </a:r>
            <a:endParaRPr lang="en-US" sz="1550" dirty="0"/>
          </a:p>
        </p:txBody>
      </p:sp>
      <p:sp>
        <p:nvSpPr>
          <p:cNvPr id="7" name="Shape 5"/>
          <p:cNvSpPr/>
          <p:nvPr/>
        </p:nvSpPr>
        <p:spPr>
          <a:xfrm>
            <a:off x="566928" y="3429000"/>
            <a:ext cx="11057839" cy="1005840"/>
          </a:xfrm>
          <a:prstGeom prst="roundRect">
            <a:avLst>
              <a:gd name="adj" fmla="val 4545"/>
            </a:avLst>
          </a:prstGeom>
          <a:solidFill>
            <a:srgbClr val="F4F8FA"/>
          </a:solidFill>
          <a:ln w="12700">
            <a:solidFill>
              <a:srgbClr val="D6E2E8"/>
            </a:solidFill>
            <a:prstDash val="solid"/>
          </a:ln>
        </p:spPr>
        <p:txBody>
          <a:bodyPr/>
          <a:lstStyle/>
          <a:p>
            <a:endParaRPr lang="en-US"/>
          </a:p>
        </p:txBody>
      </p:sp>
      <p:sp>
        <p:nvSpPr>
          <p:cNvPr id="8" name="Text 6"/>
          <p:cNvSpPr/>
          <p:nvPr/>
        </p:nvSpPr>
        <p:spPr>
          <a:xfrm>
            <a:off x="731520" y="3538728"/>
            <a:ext cx="10728655" cy="274320"/>
          </a:xfrm>
          <a:prstGeom prst="rect">
            <a:avLst/>
          </a:prstGeom>
          <a:noFill/>
          <a:ln/>
        </p:spPr>
        <p:txBody>
          <a:bodyPr wrap="square" lIns="0" tIns="0" rIns="0" bIns="0" rtlCol="0" anchor="ctr"/>
          <a:lstStyle/>
          <a:p>
            <a:pPr marL="0" indent="0" algn="l">
              <a:buNone/>
            </a:pPr>
            <a:r>
              <a:rPr lang="en-US" sz="1400" b="1" dirty="0">
                <a:solidFill>
                  <a:srgbClr val="1E6B88"/>
                </a:solidFill>
                <a:latin typeface="Courier New" pitchFamily="34" charset="0"/>
                <a:ea typeface="Courier New" pitchFamily="34" charset="-122"/>
                <a:cs typeface="Courier New" pitchFamily="34" charset="-120"/>
              </a:rPr>
              <a:t>&gt;Pikp-HMA</a:t>
            </a:r>
            <a:endParaRPr lang="en-US" sz="1400" dirty="0"/>
          </a:p>
        </p:txBody>
      </p:sp>
      <p:sp>
        <p:nvSpPr>
          <p:cNvPr id="9" name="Text 7"/>
          <p:cNvSpPr/>
          <p:nvPr/>
        </p:nvSpPr>
        <p:spPr>
          <a:xfrm>
            <a:off x="731520" y="3849624"/>
            <a:ext cx="10728655" cy="475488"/>
          </a:xfrm>
          <a:prstGeom prst="rect">
            <a:avLst/>
          </a:prstGeom>
          <a:noFill/>
          <a:ln/>
        </p:spPr>
        <p:txBody>
          <a:bodyPr wrap="square" lIns="0" tIns="0" rIns="0" bIns="0" rtlCol="0" anchor="t"/>
          <a:lstStyle/>
          <a:p>
            <a:pPr marL="0" indent="0" algn="l">
              <a:lnSpc>
                <a:spcPct val="102000"/>
              </a:lnSpc>
              <a:buNone/>
            </a:pPr>
            <a:r>
              <a:rPr lang="en-US" sz="1250" dirty="0">
                <a:solidFill>
                  <a:srgbClr val="33454F"/>
                </a:solidFill>
                <a:latin typeface="Courier New" pitchFamily="34" charset="0"/>
                <a:ea typeface="Courier New" pitchFamily="34" charset="-122"/>
                <a:cs typeface="Courier New" pitchFamily="34" charset="-120"/>
              </a:rPr>
              <a:t>GLKQKIVIKVAMEGNNCRSKAMALVASTGGVDSVALVGDLRDKIEVVGYGIDPIKLISALRKKVGDAELLQVSQANKD</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2</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Complete the results table</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5</a:t>
            </a:r>
            <a:endParaRPr lang="en-US" sz="900" dirty="0"/>
          </a:p>
        </p:txBody>
      </p:sp>
      <p:sp>
        <p:nvSpPr>
          <p:cNvPr id="6" name="Text 4"/>
          <p:cNvSpPr/>
          <p:nvPr/>
        </p:nvSpPr>
        <p:spPr>
          <a:xfrm>
            <a:off x="566928" y="1371600"/>
            <a:ext cx="11057839" cy="365760"/>
          </a:xfrm>
          <a:prstGeom prst="rect">
            <a:avLst/>
          </a:prstGeom>
          <a:noFill/>
          <a:ln/>
        </p:spPr>
        <p:txBody>
          <a:bodyPr wrap="square" lIns="0" tIns="0" rIns="0" bIns="0" rtlCol="0" anchor="ctr"/>
          <a:lstStyle/>
          <a:p>
            <a:pPr marL="0" indent="0">
              <a:buNone/>
            </a:pPr>
            <a:r>
              <a:rPr lang="en-US" sz="1600" b="1" dirty="0">
                <a:solidFill>
                  <a:srgbClr val="D98B2B"/>
                </a:solidFill>
                <a:latin typeface="Calibri" pitchFamily="34" charset="0"/>
                <a:ea typeface="Calibri" pitchFamily="34" charset="-122"/>
                <a:cs typeface="Calibri" pitchFamily="34" charset="-120"/>
              </a:rPr>
              <a:t>a)  </a:t>
            </a:r>
            <a:r>
              <a:rPr lang="en-US" sz="1600" dirty="0">
                <a:solidFill>
                  <a:srgbClr val="233240"/>
                </a:solidFill>
                <a:latin typeface="Calibri" pitchFamily="34" charset="0"/>
                <a:ea typeface="Calibri" pitchFamily="34" charset="-122"/>
                <a:cs typeface="Calibri" pitchFamily="34" charset="-120"/>
              </a:rPr>
              <a:t>What does ipTM stand for?</a:t>
            </a:r>
            <a:endParaRPr lang="en-US" sz="1600" dirty="0"/>
          </a:p>
        </p:txBody>
      </p:sp>
      <p:sp>
        <p:nvSpPr>
          <p:cNvPr id="7" name="Text 5"/>
          <p:cNvSpPr/>
          <p:nvPr/>
        </p:nvSpPr>
        <p:spPr>
          <a:xfrm>
            <a:off x="566928" y="1810512"/>
            <a:ext cx="11057839" cy="365760"/>
          </a:xfrm>
          <a:prstGeom prst="rect">
            <a:avLst/>
          </a:prstGeom>
          <a:noFill/>
          <a:ln/>
        </p:spPr>
        <p:txBody>
          <a:bodyPr wrap="square" lIns="0" tIns="0" rIns="0" bIns="0" rtlCol="0" anchor="ctr"/>
          <a:lstStyle/>
          <a:p>
            <a:pPr marL="0" indent="0">
              <a:buNone/>
            </a:pPr>
            <a:r>
              <a:rPr lang="en-US" sz="1600" b="1" dirty="0">
                <a:solidFill>
                  <a:srgbClr val="D98B2B"/>
                </a:solidFill>
                <a:latin typeface="Calibri" pitchFamily="34" charset="0"/>
                <a:ea typeface="Calibri" pitchFamily="34" charset="-122"/>
                <a:cs typeface="Calibri" pitchFamily="34" charset="-120"/>
              </a:rPr>
              <a:t>b)  </a:t>
            </a:r>
            <a:r>
              <a:rPr lang="en-US" sz="1600" dirty="0">
                <a:solidFill>
                  <a:srgbClr val="233240"/>
                </a:solidFill>
                <a:latin typeface="Calibri" pitchFamily="34" charset="0"/>
                <a:ea typeface="Calibri" pitchFamily="34" charset="-122"/>
                <a:cs typeface="Calibri" pitchFamily="34" charset="-120"/>
              </a:rPr>
              <a:t>Complete the table below with your modelling results: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2423160"/>
          <a:ext cx="7680960" cy="2724912"/>
        </p:xfrm>
        <a:graphic>
          <a:graphicData uri="http://schemas.openxmlformats.org/drawingml/2006/table">
            <a:tbl>
              <a:tblPr/>
              <a:tblGrid>
                <a:gridCol w="402336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457200">
                <a:tc>
                  <a:txBody>
                    <a:bodyPr/>
                    <a:lstStyle/>
                    <a:p>
                      <a:pPr marL="0" indent="0" algn="l">
                        <a:buNone/>
                      </a:pPr>
                      <a:r>
                        <a:rPr lang="en-US" sz="1500" b="1" dirty="0">
                          <a:solidFill>
                            <a:srgbClr val="FFFFFF"/>
                          </a:solidFill>
                          <a:latin typeface="Calibri" pitchFamily="34" charset="0"/>
                          <a:ea typeface="Calibri" pitchFamily="34" charset="-122"/>
                          <a:cs typeface="Calibri" pitchFamily="34" charset="-120"/>
                        </a:rPr>
                        <a:t>Oligomeric state</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1E6B88"/>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ipTM</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1E6B88"/>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pTM</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1E6B88"/>
                    </a:solidFill>
                  </a:tcPr>
                </a:tc>
                <a:extLst>
                  <a:ext uri="{0D108BD9-81ED-4DB2-BD59-A6C34878D82A}">
                    <a16:rowId xmlns:a16="http://schemas.microsoft.com/office/drawing/2014/main" val="10000"/>
                  </a:ext>
                </a:extLst>
              </a:tr>
              <a:tr h="566928">
                <a:tc>
                  <a:txBody>
                    <a:bodyPr/>
                    <a:lstStyle/>
                    <a:p>
                      <a:pPr marL="0" indent="0" algn="l">
                        <a:buNone/>
                      </a:pPr>
                      <a:r>
                        <a:rPr lang="en-US" sz="1500" dirty="0">
                          <a:solidFill>
                            <a:srgbClr val="233240"/>
                          </a:solidFill>
                          <a:latin typeface="Calibri" pitchFamily="34" charset="0"/>
                          <a:ea typeface="Calibri" pitchFamily="34" charset="-122"/>
                          <a:cs typeface="Calibri" pitchFamily="34" charset="-120"/>
                        </a:rPr>
                        <a:t>Monomer (n = 1)</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ctr">
                        <a:buNone/>
                      </a:pPr>
                      <a:r>
                        <a:rPr lang="en-US" sz="1500" dirty="0">
                          <a:solidFill>
                            <a:srgbClr val="657585"/>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extLst>
                  <a:ext uri="{0D108BD9-81ED-4DB2-BD59-A6C34878D82A}">
                    <a16:rowId xmlns:a16="http://schemas.microsoft.com/office/drawing/2014/main" val="10001"/>
                  </a:ext>
                </a:extLst>
              </a:tr>
              <a:tr h="566928">
                <a:tc>
                  <a:txBody>
                    <a:bodyPr/>
                    <a:lstStyle/>
                    <a:p>
                      <a:pPr marL="0" indent="0" algn="l">
                        <a:buNone/>
                      </a:pPr>
                      <a:r>
                        <a:rPr lang="en-US" sz="1500" dirty="0">
                          <a:solidFill>
                            <a:srgbClr val="233240"/>
                          </a:solidFill>
                          <a:latin typeface="Calibri" pitchFamily="34" charset="0"/>
                          <a:ea typeface="Calibri" pitchFamily="34" charset="-122"/>
                          <a:cs typeface="Calibri" pitchFamily="34" charset="-120"/>
                        </a:rPr>
                        <a:t>Dimer (n = 2)</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extLst>
                  <a:ext uri="{0D108BD9-81ED-4DB2-BD59-A6C34878D82A}">
                    <a16:rowId xmlns:a16="http://schemas.microsoft.com/office/drawing/2014/main" val="10002"/>
                  </a:ext>
                </a:extLst>
              </a:tr>
              <a:tr h="566928">
                <a:tc>
                  <a:txBody>
                    <a:bodyPr/>
                    <a:lstStyle/>
                    <a:p>
                      <a:pPr marL="0" indent="0" algn="l">
                        <a:buNone/>
                      </a:pPr>
                      <a:r>
                        <a:rPr lang="en-US" sz="1500" dirty="0">
                          <a:solidFill>
                            <a:srgbClr val="233240"/>
                          </a:solidFill>
                          <a:latin typeface="Calibri" pitchFamily="34" charset="0"/>
                          <a:ea typeface="Calibri" pitchFamily="34" charset="-122"/>
                          <a:cs typeface="Calibri" pitchFamily="34" charset="-120"/>
                        </a:rPr>
                        <a:t>Trimer (n = 3)</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extLst>
                  <a:ext uri="{0D108BD9-81ED-4DB2-BD59-A6C34878D82A}">
                    <a16:rowId xmlns:a16="http://schemas.microsoft.com/office/drawing/2014/main" val="10003"/>
                  </a:ext>
                </a:extLst>
              </a:tr>
              <a:tr h="566928">
                <a:tc>
                  <a:txBody>
                    <a:bodyPr/>
                    <a:lstStyle/>
                    <a:p>
                      <a:pPr marL="0" indent="0" algn="l">
                        <a:buNone/>
                      </a:pPr>
                      <a:r>
                        <a:rPr lang="en-US" sz="1500" dirty="0">
                          <a:solidFill>
                            <a:srgbClr val="233240"/>
                          </a:solidFill>
                          <a:latin typeface="Calibri" pitchFamily="34" charset="0"/>
                          <a:ea typeface="Calibri" pitchFamily="34" charset="-122"/>
                          <a:cs typeface="Calibri" pitchFamily="34" charset="-120"/>
                        </a:rPr>
                        <a:t>Tetramer (n = 4)</a:t>
                      </a: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tc>
                  <a:txBody>
                    <a:bodyPr/>
                    <a:lstStyle/>
                    <a:p>
                      <a:pPr marL="0" indent="0" algn="l">
                        <a:buNone/>
                      </a:pPr>
                      <a:endParaRPr lang="en-US" sz="1500" dirty="0">
                        <a:latin typeface="Calibri" charset="0"/>
                        <a:ea typeface="Calibri" charset="0"/>
                        <a:cs typeface="Calibri" charset="0"/>
                      </a:endParaRPr>
                    </a:p>
                  </a:txBody>
                  <a:tcPr marL="76200" marR="76200" marT="25400" marB="25400" anchor="ctr">
                    <a:lnL w="12700" cap="flat" cmpd="sng" algn="ctr">
                      <a:solidFill>
                        <a:srgbClr val="D6E2E8"/>
                      </a:solidFill>
                      <a:prstDash val="solid"/>
                      <a:round/>
                      <a:headEnd type="none" w="med" len="med"/>
                      <a:tailEnd type="none" w="med" len="med"/>
                    </a:lnL>
                    <a:lnR w="12700" cap="flat" cmpd="sng" algn="ctr">
                      <a:solidFill>
                        <a:srgbClr val="D6E2E8"/>
                      </a:solidFill>
                      <a:prstDash val="solid"/>
                      <a:round/>
                      <a:headEnd type="none" w="med" len="med"/>
                      <a:tailEnd type="none" w="med" len="med"/>
                    </a:lnR>
                    <a:lnT w="12700" cap="flat" cmpd="sng" algn="ctr">
                      <a:solidFill>
                        <a:srgbClr val="D6E2E8"/>
                      </a:solidFill>
                      <a:prstDash val="solid"/>
                      <a:round/>
                      <a:headEnd type="none" w="med" len="med"/>
                      <a:tailEnd type="none" w="med" len="med"/>
                    </a:lnT>
                    <a:lnB w="12700" cap="flat" cmpd="sng" algn="ctr">
                      <a:solidFill>
                        <a:srgbClr val="D6E2E8"/>
                      </a:solidFill>
                      <a:prstDash val="solid"/>
                      <a:round/>
                      <a:headEnd type="none" w="med" len="med"/>
                      <a:tailEnd type="none" w="med" len="med"/>
                    </a:lnB>
                    <a:solidFill>
                      <a:srgbClr val="FBFCFD"/>
                    </a:solidFill>
                  </a:tcPr>
                </a:tc>
                <a:extLst>
                  <a:ext uri="{0D108BD9-81ED-4DB2-BD59-A6C34878D82A}">
                    <a16:rowId xmlns:a16="http://schemas.microsoft.com/office/drawing/2014/main" val="10004"/>
                  </a:ext>
                </a:extLst>
              </a:tr>
            </a:tbl>
          </a:graphicData>
        </a:graphic>
      </p:graphicFrame>
      <p:sp>
        <p:nvSpPr>
          <p:cNvPr id="9" name="Text 6"/>
          <p:cNvSpPr/>
          <p:nvPr/>
        </p:nvSpPr>
        <p:spPr>
          <a:xfrm>
            <a:off x="566928" y="5303520"/>
            <a:ext cx="7680960" cy="320040"/>
          </a:xfrm>
          <a:prstGeom prst="rect">
            <a:avLst/>
          </a:prstGeom>
          <a:noFill/>
          <a:ln/>
        </p:spPr>
        <p:txBody>
          <a:bodyPr wrap="square" lIns="0" tIns="0" rIns="0" bIns="0" rtlCol="0" anchor="ctr"/>
          <a:lstStyle/>
          <a:p>
            <a:pPr marL="0" indent="0" algn="l">
              <a:buNone/>
            </a:pPr>
            <a:r>
              <a:rPr lang="en-US" sz="1200" i="1" dirty="0">
                <a:solidFill>
                  <a:srgbClr val="657585"/>
                </a:solidFill>
                <a:latin typeface="Calibri" pitchFamily="34" charset="0"/>
                <a:ea typeface="Calibri" pitchFamily="34" charset="-122"/>
                <a:cs typeface="Calibri" pitchFamily="34" charset="-120"/>
              </a:rPr>
              <a:t>Fill in during the session as you run each stoichiometry (n = 1 to 4).</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2</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Interpreting the PAE across oligomeric states</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6</a:t>
            </a:r>
            <a:endParaRPr lang="en-US" sz="900" dirty="0"/>
          </a:p>
        </p:txBody>
      </p:sp>
      <p:sp>
        <p:nvSpPr>
          <p:cNvPr id="6" name="Shape 4"/>
          <p:cNvSpPr/>
          <p:nvPr/>
        </p:nvSpPr>
        <p:spPr>
          <a:xfrm>
            <a:off x="566928" y="1371600"/>
            <a:ext cx="11057839" cy="1540042"/>
          </a:xfrm>
          <a:prstGeom prst="roundRect">
            <a:avLst>
              <a:gd name="adj" fmla="val 3500"/>
            </a:avLst>
          </a:prstGeom>
          <a:solidFill>
            <a:srgbClr val="FBF0DC"/>
          </a:solidFill>
          <a:ln w="15875">
            <a:solidFill>
              <a:srgbClr val="EBCF9A"/>
            </a:solidFill>
            <a:prstDash val="solid"/>
          </a:ln>
        </p:spPr>
        <p:txBody>
          <a:bodyPr/>
          <a:lstStyle/>
          <a:p>
            <a:endParaRPr lang="en-US"/>
          </a:p>
        </p:txBody>
      </p:sp>
      <p:sp>
        <p:nvSpPr>
          <p:cNvPr id="7" name="Shape 5"/>
          <p:cNvSpPr/>
          <p:nvPr/>
        </p:nvSpPr>
        <p:spPr>
          <a:xfrm>
            <a:off x="822960" y="1609344"/>
            <a:ext cx="457200" cy="457200"/>
          </a:xfrm>
          <a:prstGeom prst="ellipse">
            <a:avLst/>
          </a:prstGeom>
          <a:solidFill>
            <a:srgbClr val="D98B2B"/>
          </a:solidFill>
          <a:ln/>
        </p:spPr>
        <p:txBody>
          <a:bodyPr/>
          <a:lstStyle/>
          <a:p>
            <a:endParaRPr lang="en-US"/>
          </a:p>
        </p:txBody>
      </p:sp>
      <p:sp>
        <p:nvSpPr>
          <p:cNvPr id="8" name="Text 6"/>
          <p:cNvSpPr/>
          <p:nvPr/>
        </p:nvSpPr>
        <p:spPr>
          <a:xfrm>
            <a:off x="822960" y="1591056"/>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9" name="Text 7"/>
          <p:cNvSpPr/>
          <p:nvPr/>
        </p:nvSpPr>
        <p:spPr>
          <a:xfrm>
            <a:off x="1435608" y="1627632"/>
            <a:ext cx="9960559" cy="365760"/>
          </a:xfrm>
          <a:prstGeom prst="rect">
            <a:avLst/>
          </a:prstGeom>
          <a:noFill/>
          <a:ln/>
        </p:spPr>
        <p:txBody>
          <a:bodyPr wrap="square" lIns="0" tIns="0" rIns="0" bIns="0" rtlCol="0" anchor="ctr"/>
          <a:lstStyle/>
          <a:p>
            <a:pPr marL="0" indent="0" algn="l">
              <a:buNone/>
            </a:pPr>
            <a:r>
              <a:rPr lang="en-US" sz="1400" b="1" kern="0" spc="200" dirty="0">
                <a:solidFill>
                  <a:srgbClr val="9A6410"/>
                </a:solidFill>
                <a:latin typeface="Calibri" pitchFamily="34" charset="0"/>
                <a:ea typeface="Calibri" pitchFamily="34" charset="-122"/>
                <a:cs typeface="Calibri" pitchFamily="34" charset="-120"/>
              </a:rPr>
              <a:t>DISCUSSION</a:t>
            </a:r>
            <a:endParaRPr lang="en-US" sz="1400" dirty="0"/>
          </a:p>
        </p:txBody>
      </p:sp>
      <p:sp>
        <p:nvSpPr>
          <p:cNvPr id="10" name="Text 8"/>
          <p:cNvSpPr/>
          <p:nvPr/>
        </p:nvSpPr>
        <p:spPr>
          <a:xfrm>
            <a:off x="1435608" y="2084832"/>
            <a:ext cx="9914839" cy="960120"/>
          </a:xfrm>
          <a:prstGeom prst="rect">
            <a:avLst/>
          </a:prstGeom>
          <a:noFill/>
          <a:ln/>
        </p:spPr>
        <p:txBody>
          <a:bodyPr wrap="square" lIns="0" tIns="0" rIns="0" bIns="0" rtlCol="0" anchor="t"/>
          <a:lstStyle/>
          <a:p>
            <a:pPr marL="0" indent="0" algn="l">
              <a:lnSpc>
                <a:spcPct val="102000"/>
              </a:lnSpc>
              <a:spcAft>
                <a:spcPts val="800"/>
              </a:spcAft>
              <a:buNone/>
            </a:pPr>
            <a:r>
              <a:rPr lang="en-US" sz="1600" b="1" dirty="0">
                <a:solidFill>
                  <a:srgbClr val="D98B2B"/>
                </a:solidFill>
                <a:latin typeface="Calibri" pitchFamily="34" charset="0"/>
                <a:ea typeface="Calibri" pitchFamily="34" charset="-122"/>
                <a:cs typeface="Calibri" pitchFamily="34" charset="-120"/>
              </a:rPr>
              <a:t>c)  </a:t>
            </a:r>
            <a:r>
              <a:rPr lang="en-US" sz="1600" dirty="0">
                <a:solidFill>
                  <a:srgbClr val="5A4218"/>
                </a:solidFill>
                <a:latin typeface="Calibri" pitchFamily="34" charset="0"/>
                <a:ea typeface="Calibri" pitchFamily="34" charset="-122"/>
                <a:cs typeface="Calibri" pitchFamily="34" charset="-120"/>
              </a:rPr>
              <a:t>What does the predicted alignment error (PAE) look like for the different oligomeric states? Is there high confidence in the relative positioning of the protomers, across all cases tested?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20"/>
          <p:cNvSpPr txBox="1"/>
          <p:nvPr/>
        </p:nvSpPr>
        <p:spPr>
          <a:xfrm>
            <a:off x="1417031" y="339769"/>
            <a:ext cx="9520903"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dirty="0" err="1">
                <a:solidFill>
                  <a:schemeClr val="dk1"/>
                </a:solidFill>
                <a:latin typeface="Cambria" panose="02040503050406030204" pitchFamily="18" charset="0"/>
                <a:ea typeface="Play"/>
                <a:cs typeface="Play"/>
                <a:sym typeface="Play"/>
              </a:rPr>
              <a:t>Pikp</a:t>
            </a:r>
            <a:r>
              <a:rPr lang="en-GB" sz="2400" b="1" dirty="0">
                <a:solidFill>
                  <a:schemeClr val="dk1"/>
                </a:solidFill>
                <a:latin typeface="Cambria" panose="02040503050406030204" pitchFamily="18" charset="0"/>
                <a:ea typeface="Play"/>
                <a:cs typeface="Play"/>
                <a:sym typeface="Play"/>
              </a:rPr>
              <a:t>-HMA shows the highest </a:t>
            </a:r>
            <a:r>
              <a:rPr lang="en-GB" sz="2400" b="1" dirty="0" err="1">
                <a:solidFill>
                  <a:schemeClr val="dk1"/>
                </a:solidFill>
                <a:latin typeface="Cambria" panose="02040503050406030204" pitchFamily="18" charset="0"/>
                <a:ea typeface="Play"/>
                <a:cs typeface="Play"/>
                <a:sym typeface="Play"/>
              </a:rPr>
              <a:t>ipTM</a:t>
            </a:r>
            <a:r>
              <a:rPr lang="en-GB" sz="2400" b="1" dirty="0">
                <a:solidFill>
                  <a:schemeClr val="dk1"/>
                </a:solidFill>
                <a:latin typeface="Cambria" panose="02040503050406030204" pitchFamily="18" charset="0"/>
                <a:ea typeface="Play"/>
                <a:cs typeface="Play"/>
                <a:sym typeface="Play"/>
              </a:rPr>
              <a:t> score as a homodimer</a:t>
            </a:r>
            <a:endParaRPr sz="1400" dirty="0">
              <a:latin typeface="Cambria" panose="02040503050406030204" pitchFamily="18" charset="0"/>
            </a:endParaRPr>
          </a:p>
        </p:txBody>
      </p:sp>
      <p:pic>
        <p:nvPicPr>
          <p:cNvPr id="177" name="Google Shape;177;p20" descr="A green graph with numbers and a bar&#10;&#10;AI-generated content may be incorrect."/>
          <p:cNvPicPr preferRelativeResize="0"/>
          <p:nvPr/>
        </p:nvPicPr>
        <p:blipFill rotWithShape="1">
          <a:blip r:embed="rId3">
            <a:alphaModFix/>
          </a:blip>
          <a:srcRect t="83240" b="1004"/>
          <a:stretch/>
        </p:blipFill>
        <p:spPr>
          <a:xfrm>
            <a:off x="4187031" y="6082006"/>
            <a:ext cx="2906548" cy="566619"/>
          </a:xfrm>
          <a:prstGeom prst="rect">
            <a:avLst/>
          </a:prstGeom>
          <a:noFill/>
          <a:ln>
            <a:noFill/>
          </a:ln>
        </p:spPr>
      </p:pic>
      <p:grpSp>
        <p:nvGrpSpPr>
          <p:cNvPr id="178" name="Google Shape;178;p20"/>
          <p:cNvGrpSpPr/>
          <p:nvPr/>
        </p:nvGrpSpPr>
        <p:grpSpPr>
          <a:xfrm>
            <a:off x="1848796" y="966870"/>
            <a:ext cx="8729709" cy="5050435"/>
            <a:chOff x="1141431" y="949617"/>
            <a:chExt cx="8729709" cy="5050435"/>
          </a:xfrm>
        </p:grpSpPr>
        <p:grpSp>
          <p:nvGrpSpPr>
            <p:cNvPr id="179" name="Google Shape;179;p20"/>
            <p:cNvGrpSpPr/>
            <p:nvPr/>
          </p:nvGrpSpPr>
          <p:grpSpPr>
            <a:xfrm>
              <a:off x="1161900" y="949617"/>
              <a:ext cx="3396520" cy="2403321"/>
              <a:chOff x="1161900" y="949617"/>
              <a:chExt cx="3396520" cy="2403321"/>
            </a:xfrm>
          </p:grpSpPr>
          <p:sp>
            <p:nvSpPr>
              <p:cNvPr id="180" name="Google Shape;180;p20"/>
              <p:cNvSpPr txBox="1"/>
              <p:nvPr/>
            </p:nvSpPr>
            <p:spPr>
              <a:xfrm>
                <a:off x="1354124" y="949617"/>
                <a:ext cx="186064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0" i="0" u="none" strike="noStrike" dirty="0">
                    <a:solidFill>
                      <a:srgbClr val="000000"/>
                    </a:solidFill>
                    <a:latin typeface="Cambria" panose="02040503050406030204" pitchFamily="18" charset="0"/>
                    <a:ea typeface="Roboto"/>
                    <a:cs typeface="Roboto"/>
                    <a:sym typeface="Roboto"/>
                  </a:rPr>
                  <a:t>Monomer (n=1)</a:t>
                </a:r>
                <a:endParaRPr sz="1800" dirty="0">
                  <a:solidFill>
                    <a:schemeClr val="dk1"/>
                  </a:solidFill>
                  <a:latin typeface="Cambria" panose="02040503050406030204" pitchFamily="18" charset="0"/>
                  <a:ea typeface="Arial"/>
                  <a:cs typeface="Arial"/>
                  <a:sym typeface="Arial"/>
                </a:endParaRPr>
              </a:p>
            </p:txBody>
          </p:sp>
          <p:pic>
            <p:nvPicPr>
              <p:cNvPr id="181" name="Google Shape;181;p20" descr="A green graph with numbers and a bar&#10;&#10;AI-generated content may be incorrect."/>
              <p:cNvPicPr preferRelativeResize="0"/>
              <p:nvPr/>
            </p:nvPicPr>
            <p:blipFill rotWithShape="1">
              <a:blip r:embed="rId4">
                <a:alphaModFix/>
              </a:blip>
              <a:srcRect b="18965"/>
              <a:stretch/>
            </p:blipFill>
            <p:spPr>
              <a:xfrm>
                <a:off x="1161900" y="1265157"/>
                <a:ext cx="2063103" cy="2087781"/>
              </a:xfrm>
              <a:prstGeom prst="rect">
                <a:avLst/>
              </a:prstGeom>
              <a:noFill/>
              <a:ln>
                <a:noFill/>
              </a:ln>
            </p:spPr>
          </p:pic>
          <p:grpSp>
            <p:nvGrpSpPr>
              <p:cNvPr id="182" name="Google Shape;182;p20"/>
              <p:cNvGrpSpPr/>
              <p:nvPr/>
            </p:nvGrpSpPr>
            <p:grpSpPr>
              <a:xfrm>
                <a:off x="3134833" y="1861617"/>
                <a:ext cx="1423587" cy="729895"/>
                <a:chOff x="3134833" y="2161573"/>
                <a:chExt cx="1423587" cy="729895"/>
              </a:xfrm>
            </p:grpSpPr>
            <p:grpSp>
              <p:nvGrpSpPr>
                <p:cNvPr id="183" name="Google Shape;183;p20"/>
                <p:cNvGrpSpPr/>
                <p:nvPr/>
              </p:nvGrpSpPr>
              <p:grpSpPr>
                <a:xfrm>
                  <a:off x="3813054" y="2175211"/>
                  <a:ext cx="745366" cy="716257"/>
                  <a:chOff x="3004801" y="2022811"/>
                  <a:chExt cx="745366" cy="716257"/>
                </a:xfrm>
              </p:grpSpPr>
              <p:sp>
                <p:nvSpPr>
                  <p:cNvPr id="184" name="Google Shape;184;p20"/>
                  <p:cNvSpPr txBox="1"/>
                  <p:nvPr/>
                </p:nvSpPr>
                <p:spPr>
                  <a:xfrm>
                    <a:off x="3004801" y="2022811"/>
                    <a:ext cx="67756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0B769F"/>
                        </a:solidFill>
                        <a:latin typeface="Arial"/>
                        <a:ea typeface="Arial"/>
                        <a:cs typeface="Arial"/>
                        <a:sym typeface="Arial"/>
                      </a:rPr>
                      <a:t>0.81</a:t>
                    </a:r>
                    <a:endParaRPr sz="1400"/>
                  </a:p>
                </p:txBody>
              </p:sp>
              <p:sp>
                <p:nvSpPr>
                  <p:cNvPr id="185" name="Google Shape;185;p20"/>
                  <p:cNvSpPr txBox="1"/>
                  <p:nvPr/>
                </p:nvSpPr>
                <p:spPr>
                  <a:xfrm>
                    <a:off x="3004801" y="2431332"/>
                    <a:ext cx="745366"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dirty="0">
                        <a:solidFill>
                          <a:srgbClr val="BF4F14"/>
                        </a:solidFill>
                        <a:latin typeface="Arial"/>
                        <a:ea typeface="Arial"/>
                        <a:cs typeface="Arial"/>
                        <a:sym typeface="Arial"/>
                      </a:rPr>
                      <a:t>N/A</a:t>
                    </a:r>
                    <a:endParaRPr sz="1400" dirty="0"/>
                  </a:p>
                </p:txBody>
              </p:sp>
            </p:grpSp>
            <p:grpSp>
              <p:nvGrpSpPr>
                <p:cNvPr id="186" name="Google Shape;186;p20"/>
                <p:cNvGrpSpPr/>
                <p:nvPr/>
              </p:nvGrpSpPr>
              <p:grpSpPr>
                <a:xfrm>
                  <a:off x="3134833" y="2161573"/>
                  <a:ext cx="823994" cy="716257"/>
                  <a:chOff x="2982433" y="2009173"/>
                  <a:chExt cx="823994" cy="716257"/>
                </a:xfrm>
              </p:grpSpPr>
              <p:sp>
                <p:nvSpPr>
                  <p:cNvPr id="187" name="Google Shape;187;p20"/>
                  <p:cNvSpPr txBox="1"/>
                  <p:nvPr/>
                </p:nvSpPr>
                <p:spPr>
                  <a:xfrm>
                    <a:off x="3050235" y="2009173"/>
                    <a:ext cx="756192"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dirty="0" err="1">
                        <a:solidFill>
                          <a:srgbClr val="0B769F"/>
                        </a:solidFill>
                        <a:latin typeface="Arial"/>
                        <a:ea typeface="Arial"/>
                        <a:cs typeface="Arial"/>
                        <a:sym typeface="Arial"/>
                      </a:rPr>
                      <a:t>pTM</a:t>
                    </a:r>
                    <a:r>
                      <a:rPr lang="en-GB" sz="1400" b="1" dirty="0">
                        <a:solidFill>
                          <a:srgbClr val="0B769F"/>
                        </a:solidFill>
                        <a:latin typeface="Arial"/>
                        <a:ea typeface="Arial"/>
                        <a:cs typeface="Arial"/>
                        <a:sym typeface="Arial"/>
                      </a:rPr>
                      <a:t>:</a:t>
                    </a:r>
                    <a:endParaRPr sz="1400" dirty="0"/>
                  </a:p>
                </p:txBody>
              </p:sp>
              <p:sp>
                <p:nvSpPr>
                  <p:cNvPr id="188" name="Google Shape;188;p20"/>
                  <p:cNvSpPr txBox="1"/>
                  <p:nvPr/>
                </p:nvSpPr>
                <p:spPr>
                  <a:xfrm>
                    <a:off x="2982433" y="2417694"/>
                    <a:ext cx="823994"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dirty="0" err="1">
                        <a:solidFill>
                          <a:srgbClr val="BF4F14"/>
                        </a:solidFill>
                        <a:latin typeface="Arial"/>
                        <a:ea typeface="Arial"/>
                        <a:cs typeface="Arial"/>
                        <a:sym typeface="Arial"/>
                      </a:rPr>
                      <a:t>ipTM</a:t>
                    </a:r>
                    <a:r>
                      <a:rPr lang="en-GB" sz="1400" b="1" dirty="0">
                        <a:solidFill>
                          <a:srgbClr val="BF4F14"/>
                        </a:solidFill>
                        <a:latin typeface="Arial"/>
                        <a:ea typeface="Arial"/>
                        <a:cs typeface="Arial"/>
                        <a:sym typeface="Arial"/>
                      </a:rPr>
                      <a:t>:</a:t>
                    </a:r>
                    <a:endParaRPr sz="1400" dirty="0"/>
                  </a:p>
                </p:txBody>
              </p:sp>
            </p:grpSp>
          </p:grpSp>
          <p:sp>
            <p:nvSpPr>
              <p:cNvPr id="189" name="Google Shape;189;p20"/>
              <p:cNvSpPr/>
              <p:nvPr/>
            </p:nvSpPr>
            <p:spPr>
              <a:xfrm>
                <a:off x="1441407" y="1338827"/>
                <a:ext cx="1731943" cy="1736912"/>
              </a:xfrm>
              <a:prstGeom prst="rect">
                <a:avLst/>
              </a:prstGeom>
              <a:noFill/>
              <a:ln w="444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dk1"/>
                  </a:solidFill>
                  <a:latin typeface="Arial"/>
                  <a:ea typeface="Arial"/>
                  <a:cs typeface="Arial"/>
                  <a:sym typeface="Arial"/>
                </a:endParaRPr>
              </a:p>
            </p:txBody>
          </p:sp>
        </p:grpSp>
        <p:grpSp>
          <p:nvGrpSpPr>
            <p:cNvPr id="190" name="Google Shape;190;p20"/>
            <p:cNvGrpSpPr/>
            <p:nvPr/>
          </p:nvGrpSpPr>
          <p:grpSpPr>
            <a:xfrm>
              <a:off x="6386214" y="949617"/>
              <a:ext cx="3417124" cy="2499211"/>
              <a:chOff x="6386214" y="949617"/>
              <a:chExt cx="3417124" cy="2499211"/>
            </a:xfrm>
          </p:grpSpPr>
          <p:pic>
            <p:nvPicPr>
              <p:cNvPr id="191" name="Google Shape;191;p20" descr="A green graph with numbers and a bar&#10;&#10;AI-generated content may be incorrect."/>
              <p:cNvPicPr preferRelativeResize="0"/>
              <p:nvPr/>
            </p:nvPicPr>
            <p:blipFill rotWithShape="1">
              <a:blip r:embed="rId5">
                <a:alphaModFix/>
              </a:blip>
              <a:srcRect b="16628"/>
              <a:stretch/>
            </p:blipFill>
            <p:spPr>
              <a:xfrm>
                <a:off x="6386214" y="1265157"/>
                <a:ext cx="2114914" cy="2183671"/>
              </a:xfrm>
              <a:prstGeom prst="rect">
                <a:avLst/>
              </a:prstGeom>
              <a:noFill/>
              <a:ln>
                <a:noFill/>
              </a:ln>
            </p:spPr>
          </p:pic>
          <p:sp>
            <p:nvSpPr>
              <p:cNvPr id="192" name="Google Shape;192;p20"/>
              <p:cNvSpPr txBox="1"/>
              <p:nvPr/>
            </p:nvSpPr>
            <p:spPr>
              <a:xfrm>
                <a:off x="6640484" y="949617"/>
                <a:ext cx="186064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a:solidFill>
                      <a:srgbClr val="000000"/>
                    </a:solidFill>
                    <a:latin typeface="Cambria" panose="02040503050406030204" pitchFamily="18" charset="0"/>
                    <a:ea typeface="Roboto"/>
                    <a:cs typeface="Roboto"/>
                    <a:sym typeface="Roboto"/>
                  </a:rPr>
                  <a:t>Dimer</a:t>
                </a:r>
                <a:r>
                  <a:rPr lang="en-GB" sz="1800" b="0" i="0" u="none" strike="noStrike">
                    <a:solidFill>
                      <a:srgbClr val="000000"/>
                    </a:solidFill>
                    <a:latin typeface="Cambria" panose="02040503050406030204" pitchFamily="18" charset="0"/>
                    <a:ea typeface="Roboto"/>
                    <a:cs typeface="Roboto"/>
                    <a:sym typeface="Roboto"/>
                  </a:rPr>
                  <a:t> (n=2)</a:t>
                </a:r>
                <a:endParaRPr sz="1800">
                  <a:solidFill>
                    <a:schemeClr val="dk1"/>
                  </a:solidFill>
                  <a:latin typeface="Cambria" panose="02040503050406030204" pitchFamily="18" charset="0"/>
                  <a:ea typeface="Arial"/>
                  <a:cs typeface="Arial"/>
                  <a:sym typeface="Arial"/>
                </a:endParaRPr>
              </a:p>
            </p:txBody>
          </p:sp>
          <p:grpSp>
            <p:nvGrpSpPr>
              <p:cNvPr id="193" name="Google Shape;193;p20"/>
              <p:cNvGrpSpPr/>
              <p:nvPr/>
            </p:nvGrpSpPr>
            <p:grpSpPr>
              <a:xfrm>
                <a:off x="8402119" y="1904840"/>
                <a:ext cx="1401219" cy="716257"/>
                <a:chOff x="3142143" y="2204796"/>
                <a:chExt cx="1401219" cy="716257"/>
              </a:xfrm>
            </p:grpSpPr>
            <p:grpSp>
              <p:nvGrpSpPr>
                <p:cNvPr id="194" name="Google Shape;194;p20"/>
                <p:cNvGrpSpPr/>
                <p:nvPr/>
              </p:nvGrpSpPr>
              <p:grpSpPr>
                <a:xfrm>
                  <a:off x="3797996" y="2204796"/>
                  <a:ext cx="745366" cy="716257"/>
                  <a:chOff x="2989743" y="2052396"/>
                  <a:chExt cx="745366" cy="716257"/>
                </a:xfrm>
              </p:grpSpPr>
              <p:sp>
                <p:nvSpPr>
                  <p:cNvPr id="195" name="Google Shape;195;p20"/>
                  <p:cNvSpPr txBox="1"/>
                  <p:nvPr/>
                </p:nvSpPr>
                <p:spPr>
                  <a:xfrm>
                    <a:off x="2989743" y="2052396"/>
                    <a:ext cx="67756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0B769F"/>
                        </a:solidFill>
                        <a:latin typeface="Arial"/>
                        <a:ea typeface="Arial"/>
                        <a:cs typeface="Arial"/>
                        <a:sym typeface="Arial"/>
                      </a:rPr>
                      <a:t>0.86</a:t>
                    </a:r>
                    <a:endParaRPr sz="1400"/>
                  </a:p>
                </p:txBody>
              </p:sp>
              <p:sp>
                <p:nvSpPr>
                  <p:cNvPr id="196" name="Google Shape;196;p20"/>
                  <p:cNvSpPr txBox="1"/>
                  <p:nvPr/>
                </p:nvSpPr>
                <p:spPr>
                  <a:xfrm>
                    <a:off x="2989743" y="2460917"/>
                    <a:ext cx="745366"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BF4F14"/>
                        </a:solidFill>
                        <a:latin typeface="Arial"/>
                        <a:ea typeface="Arial"/>
                        <a:cs typeface="Arial"/>
                        <a:sym typeface="Arial"/>
                      </a:rPr>
                      <a:t>0.83</a:t>
                    </a:r>
                    <a:endParaRPr sz="1400"/>
                  </a:p>
                </p:txBody>
              </p:sp>
            </p:grpSp>
            <p:grpSp>
              <p:nvGrpSpPr>
                <p:cNvPr id="197" name="Google Shape;197;p20"/>
                <p:cNvGrpSpPr/>
                <p:nvPr/>
              </p:nvGrpSpPr>
              <p:grpSpPr>
                <a:xfrm>
                  <a:off x="3142143" y="2204796"/>
                  <a:ext cx="745366" cy="716257"/>
                  <a:chOff x="2989743" y="2052396"/>
                  <a:chExt cx="745366" cy="716257"/>
                </a:xfrm>
              </p:grpSpPr>
              <p:sp>
                <p:nvSpPr>
                  <p:cNvPr id="198" name="Google Shape;198;p20"/>
                  <p:cNvSpPr txBox="1"/>
                  <p:nvPr/>
                </p:nvSpPr>
                <p:spPr>
                  <a:xfrm>
                    <a:off x="3057545" y="2052396"/>
                    <a:ext cx="677564"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dirty="0" err="1">
                        <a:solidFill>
                          <a:srgbClr val="0B769F"/>
                        </a:solidFill>
                        <a:latin typeface="Arial"/>
                        <a:ea typeface="Arial"/>
                        <a:cs typeface="Arial"/>
                        <a:sym typeface="Arial"/>
                      </a:rPr>
                      <a:t>pTM</a:t>
                    </a:r>
                    <a:r>
                      <a:rPr lang="en-GB" sz="1400" b="1" dirty="0">
                        <a:solidFill>
                          <a:srgbClr val="0B769F"/>
                        </a:solidFill>
                        <a:latin typeface="Arial"/>
                        <a:ea typeface="Arial"/>
                        <a:cs typeface="Arial"/>
                        <a:sym typeface="Arial"/>
                      </a:rPr>
                      <a:t>:</a:t>
                    </a:r>
                    <a:endParaRPr sz="1400" dirty="0"/>
                  </a:p>
                </p:txBody>
              </p:sp>
              <p:sp>
                <p:nvSpPr>
                  <p:cNvPr id="199" name="Google Shape;199;p20"/>
                  <p:cNvSpPr txBox="1"/>
                  <p:nvPr/>
                </p:nvSpPr>
                <p:spPr>
                  <a:xfrm>
                    <a:off x="2989743" y="2460917"/>
                    <a:ext cx="745366"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a:solidFill>
                          <a:srgbClr val="BF4F14"/>
                        </a:solidFill>
                        <a:latin typeface="Arial"/>
                        <a:ea typeface="Arial"/>
                        <a:cs typeface="Arial"/>
                        <a:sym typeface="Arial"/>
                      </a:rPr>
                      <a:t>ipTM:</a:t>
                    </a:r>
                    <a:endParaRPr sz="1400"/>
                  </a:p>
                </p:txBody>
              </p:sp>
            </p:grpSp>
          </p:grpSp>
          <p:sp>
            <p:nvSpPr>
              <p:cNvPr id="200" name="Google Shape;200;p20"/>
              <p:cNvSpPr/>
              <p:nvPr/>
            </p:nvSpPr>
            <p:spPr>
              <a:xfrm>
                <a:off x="7570353" y="2257986"/>
                <a:ext cx="871106" cy="861376"/>
              </a:xfrm>
              <a:prstGeom prst="rect">
                <a:avLst/>
              </a:prstGeom>
              <a:noFill/>
              <a:ln w="381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01" name="Google Shape;201;p20"/>
              <p:cNvSpPr/>
              <p:nvPr/>
            </p:nvSpPr>
            <p:spPr>
              <a:xfrm>
                <a:off x="6681540" y="1355828"/>
                <a:ext cx="871106" cy="861376"/>
              </a:xfrm>
              <a:prstGeom prst="rect">
                <a:avLst/>
              </a:prstGeom>
              <a:noFill/>
              <a:ln w="381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202" name="Google Shape;202;p20"/>
            <p:cNvGrpSpPr/>
            <p:nvPr/>
          </p:nvGrpSpPr>
          <p:grpSpPr>
            <a:xfrm>
              <a:off x="6438025" y="3531514"/>
              <a:ext cx="3433115" cy="2468538"/>
              <a:chOff x="6438025" y="3583273"/>
              <a:chExt cx="3433115" cy="2468538"/>
            </a:xfrm>
          </p:grpSpPr>
          <p:pic>
            <p:nvPicPr>
              <p:cNvPr id="203" name="Google Shape;203;p20" descr="A green graph with numbers and a bar&#10;&#10;AI-generated content may be incorrect."/>
              <p:cNvPicPr preferRelativeResize="0"/>
              <p:nvPr/>
            </p:nvPicPr>
            <p:blipFill rotWithShape="1">
              <a:blip r:embed="rId3">
                <a:alphaModFix/>
              </a:blip>
              <a:srcRect b="16759"/>
              <a:stretch/>
            </p:blipFill>
            <p:spPr>
              <a:xfrm>
                <a:off x="6438025" y="3926956"/>
                <a:ext cx="2063103" cy="2124855"/>
              </a:xfrm>
              <a:prstGeom prst="rect">
                <a:avLst/>
              </a:prstGeom>
              <a:noFill/>
              <a:ln>
                <a:noFill/>
              </a:ln>
            </p:spPr>
          </p:pic>
          <p:sp>
            <p:nvSpPr>
              <p:cNvPr id="204" name="Google Shape;204;p20"/>
              <p:cNvSpPr txBox="1"/>
              <p:nvPr/>
            </p:nvSpPr>
            <p:spPr>
              <a:xfrm>
                <a:off x="6640484" y="3583273"/>
                <a:ext cx="186064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b="0" i="0" u="none" strike="noStrike">
                    <a:solidFill>
                      <a:srgbClr val="000000"/>
                    </a:solidFill>
                    <a:latin typeface="Cambria" panose="02040503050406030204" pitchFamily="18" charset="0"/>
                    <a:ea typeface="Roboto"/>
                    <a:cs typeface="Roboto"/>
                    <a:sym typeface="Roboto"/>
                  </a:rPr>
                  <a:t>Tetramer (n=4)</a:t>
                </a:r>
                <a:endParaRPr sz="1800">
                  <a:solidFill>
                    <a:schemeClr val="dk1"/>
                  </a:solidFill>
                  <a:latin typeface="Cambria" panose="02040503050406030204" pitchFamily="18" charset="0"/>
                  <a:ea typeface="Arial"/>
                  <a:cs typeface="Arial"/>
                  <a:sym typeface="Arial"/>
                </a:endParaRPr>
              </a:p>
            </p:txBody>
          </p:sp>
          <p:grpSp>
            <p:nvGrpSpPr>
              <p:cNvPr id="205" name="Google Shape;205;p20"/>
              <p:cNvGrpSpPr/>
              <p:nvPr/>
            </p:nvGrpSpPr>
            <p:grpSpPr>
              <a:xfrm>
                <a:off x="8469921" y="4533054"/>
                <a:ext cx="1401219" cy="716257"/>
                <a:chOff x="3209945" y="2124230"/>
                <a:chExt cx="1401219" cy="716257"/>
              </a:xfrm>
            </p:grpSpPr>
            <p:grpSp>
              <p:nvGrpSpPr>
                <p:cNvPr id="206" name="Google Shape;206;p20"/>
                <p:cNvGrpSpPr/>
                <p:nvPr/>
              </p:nvGrpSpPr>
              <p:grpSpPr>
                <a:xfrm>
                  <a:off x="3865798" y="2124230"/>
                  <a:ext cx="745366" cy="716257"/>
                  <a:chOff x="3057545" y="1971830"/>
                  <a:chExt cx="745366" cy="716257"/>
                </a:xfrm>
              </p:grpSpPr>
              <p:sp>
                <p:nvSpPr>
                  <p:cNvPr id="207" name="Google Shape;207;p20"/>
                  <p:cNvSpPr txBox="1"/>
                  <p:nvPr/>
                </p:nvSpPr>
                <p:spPr>
                  <a:xfrm>
                    <a:off x="3057545" y="1971830"/>
                    <a:ext cx="67756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0B769F"/>
                        </a:solidFill>
                        <a:latin typeface="Arial"/>
                        <a:ea typeface="Arial"/>
                        <a:cs typeface="Arial"/>
                        <a:sym typeface="Arial"/>
                      </a:rPr>
                      <a:t>0.59</a:t>
                    </a:r>
                    <a:endParaRPr sz="1400"/>
                  </a:p>
                </p:txBody>
              </p:sp>
              <p:sp>
                <p:nvSpPr>
                  <p:cNvPr id="208" name="Google Shape;208;p20"/>
                  <p:cNvSpPr txBox="1"/>
                  <p:nvPr/>
                </p:nvSpPr>
                <p:spPr>
                  <a:xfrm>
                    <a:off x="3057545" y="2380351"/>
                    <a:ext cx="745366"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BF4F14"/>
                        </a:solidFill>
                        <a:latin typeface="Arial"/>
                        <a:ea typeface="Arial"/>
                        <a:cs typeface="Arial"/>
                        <a:sym typeface="Arial"/>
                      </a:rPr>
                      <a:t>0.49</a:t>
                    </a:r>
                    <a:endParaRPr sz="1400"/>
                  </a:p>
                </p:txBody>
              </p:sp>
            </p:grpSp>
            <p:grpSp>
              <p:nvGrpSpPr>
                <p:cNvPr id="209" name="Google Shape;209;p20"/>
                <p:cNvGrpSpPr/>
                <p:nvPr/>
              </p:nvGrpSpPr>
              <p:grpSpPr>
                <a:xfrm>
                  <a:off x="3209945" y="2124230"/>
                  <a:ext cx="745366" cy="716257"/>
                  <a:chOff x="3057545" y="1971830"/>
                  <a:chExt cx="745366" cy="716257"/>
                </a:xfrm>
              </p:grpSpPr>
              <p:sp>
                <p:nvSpPr>
                  <p:cNvPr id="210" name="Google Shape;210;p20"/>
                  <p:cNvSpPr txBox="1"/>
                  <p:nvPr/>
                </p:nvSpPr>
                <p:spPr>
                  <a:xfrm>
                    <a:off x="3125347" y="1971830"/>
                    <a:ext cx="677564"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dirty="0" err="1">
                        <a:solidFill>
                          <a:srgbClr val="0B769F"/>
                        </a:solidFill>
                        <a:latin typeface="Arial"/>
                        <a:ea typeface="Arial"/>
                        <a:cs typeface="Arial"/>
                        <a:sym typeface="Arial"/>
                      </a:rPr>
                      <a:t>pTM</a:t>
                    </a:r>
                    <a:r>
                      <a:rPr lang="en-GB" sz="1400" b="1" dirty="0">
                        <a:solidFill>
                          <a:srgbClr val="0B769F"/>
                        </a:solidFill>
                        <a:latin typeface="Arial"/>
                        <a:ea typeface="Arial"/>
                        <a:cs typeface="Arial"/>
                        <a:sym typeface="Arial"/>
                      </a:rPr>
                      <a:t>:</a:t>
                    </a:r>
                    <a:endParaRPr sz="1400" dirty="0"/>
                  </a:p>
                </p:txBody>
              </p:sp>
              <p:sp>
                <p:nvSpPr>
                  <p:cNvPr id="211" name="Google Shape;211;p20"/>
                  <p:cNvSpPr txBox="1"/>
                  <p:nvPr/>
                </p:nvSpPr>
                <p:spPr>
                  <a:xfrm>
                    <a:off x="3057545" y="2380351"/>
                    <a:ext cx="745366"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a:solidFill>
                          <a:srgbClr val="BF4F14"/>
                        </a:solidFill>
                        <a:latin typeface="Arial"/>
                        <a:ea typeface="Arial"/>
                        <a:cs typeface="Arial"/>
                        <a:sym typeface="Arial"/>
                      </a:rPr>
                      <a:t>ipTM:</a:t>
                    </a:r>
                    <a:endParaRPr sz="1400"/>
                  </a:p>
                </p:txBody>
              </p:sp>
            </p:grpSp>
          </p:grpSp>
          <p:sp>
            <p:nvSpPr>
              <p:cNvPr id="212" name="Google Shape;212;p20"/>
              <p:cNvSpPr/>
              <p:nvPr/>
            </p:nvSpPr>
            <p:spPr>
              <a:xfrm>
                <a:off x="6724498" y="4002858"/>
                <a:ext cx="425005" cy="427875"/>
              </a:xfrm>
              <a:prstGeom prst="rect">
                <a:avLst/>
              </a:prstGeom>
              <a:no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3" name="Google Shape;213;p20"/>
              <p:cNvSpPr/>
              <p:nvPr/>
            </p:nvSpPr>
            <p:spPr>
              <a:xfrm>
                <a:off x="7152117" y="4432940"/>
                <a:ext cx="425005" cy="427875"/>
              </a:xfrm>
              <a:prstGeom prst="rect">
                <a:avLst/>
              </a:prstGeom>
              <a:no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4" name="Google Shape;214;p20"/>
              <p:cNvSpPr/>
              <p:nvPr/>
            </p:nvSpPr>
            <p:spPr>
              <a:xfrm>
                <a:off x="7579736" y="4863022"/>
                <a:ext cx="425005" cy="427875"/>
              </a:xfrm>
              <a:prstGeom prst="rect">
                <a:avLst/>
              </a:prstGeom>
              <a:no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15" name="Google Shape;215;p20"/>
              <p:cNvSpPr/>
              <p:nvPr/>
            </p:nvSpPr>
            <p:spPr>
              <a:xfrm>
                <a:off x="8007355" y="5293103"/>
                <a:ext cx="425005" cy="427875"/>
              </a:xfrm>
              <a:prstGeom prst="rect">
                <a:avLst/>
              </a:prstGeom>
              <a:noFill/>
              <a:ln w="1905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nvGrpSpPr>
            <p:cNvPr id="216" name="Google Shape;216;p20"/>
            <p:cNvGrpSpPr/>
            <p:nvPr/>
          </p:nvGrpSpPr>
          <p:grpSpPr>
            <a:xfrm>
              <a:off x="1141431" y="3531514"/>
              <a:ext cx="3551249" cy="2468538"/>
              <a:chOff x="1141431" y="3531514"/>
              <a:chExt cx="3551249" cy="2468538"/>
            </a:xfrm>
          </p:grpSpPr>
          <p:pic>
            <p:nvPicPr>
              <p:cNvPr id="217" name="Google Shape;217;p20" descr="A green graph with numbers and a grid&#10;&#10;AI-generated content may be incorrect."/>
              <p:cNvPicPr preferRelativeResize="0"/>
              <p:nvPr/>
            </p:nvPicPr>
            <p:blipFill rotWithShape="1">
              <a:blip r:embed="rId6">
                <a:alphaModFix/>
              </a:blip>
              <a:srcRect l="1177" r="2695" b="18676"/>
              <a:stretch/>
            </p:blipFill>
            <p:spPr>
              <a:xfrm>
                <a:off x="1141431" y="3870007"/>
                <a:ext cx="2063103" cy="2130045"/>
              </a:xfrm>
              <a:prstGeom prst="rect">
                <a:avLst/>
              </a:prstGeom>
              <a:noFill/>
              <a:ln>
                <a:noFill/>
              </a:ln>
            </p:spPr>
          </p:pic>
          <p:sp>
            <p:nvSpPr>
              <p:cNvPr id="218" name="Google Shape;218;p20"/>
              <p:cNvSpPr txBox="1"/>
              <p:nvPr/>
            </p:nvSpPr>
            <p:spPr>
              <a:xfrm>
                <a:off x="1354124" y="3531514"/>
                <a:ext cx="1860644" cy="369332"/>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1800">
                    <a:solidFill>
                      <a:srgbClr val="000000"/>
                    </a:solidFill>
                    <a:latin typeface="Cambria" panose="02040503050406030204" pitchFamily="18" charset="0"/>
                    <a:ea typeface="Roboto"/>
                    <a:cs typeface="Roboto"/>
                    <a:sym typeface="Roboto"/>
                  </a:rPr>
                  <a:t>Trimer</a:t>
                </a:r>
                <a:r>
                  <a:rPr lang="en-GB" sz="1800" b="0" i="0" u="none" strike="noStrike">
                    <a:solidFill>
                      <a:srgbClr val="000000"/>
                    </a:solidFill>
                    <a:latin typeface="Cambria" panose="02040503050406030204" pitchFamily="18" charset="0"/>
                    <a:ea typeface="Roboto"/>
                    <a:cs typeface="Roboto"/>
                    <a:sym typeface="Roboto"/>
                  </a:rPr>
                  <a:t> (n=3)</a:t>
                </a:r>
                <a:endParaRPr sz="1800">
                  <a:solidFill>
                    <a:schemeClr val="dk1"/>
                  </a:solidFill>
                  <a:latin typeface="Cambria" panose="02040503050406030204" pitchFamily="18" charset="0"/>
                  <a:ea typeface="Arial"/>
                  <a:cs typeface="Arial"/>
                  <a:sym typeface="Arial"/>
                </a:endParaRPr>
              </a:p>
            </p:txBody>
          </p:sp>
          <p:grpSp>
            <p:nvGrpSpPr>
              <p:cNvPr id="219" name="Google Shape;219;p20"/>
              <p:cNvGrpSpPr/>
              <p:nvPr/>
            </p:nvGrpSpPr>
            <p:grpSpPr>
              <a:xfrm>
                <a:off x="3291461" y="4450755"/>
                <a:ext cx="1401219" cy="716257"/>
                <a:chOff x="3291461" y="2093690"/>
                <a:chExt cx="1401219" cy="716257"/>
              </a:xfrm>
            </p:grpSpPr>
            <p:grpSp>
              <p:nvGrpSpPr>
                <p:cNvPr id="220" name="Google Shape;220;p20"/>
                <p:cNvGrpSpPr/>
                <p:nvPr/>
              </p:nvGrpSpPr>
              <p:grpSpPr>
                <a:xfrm>
                  <a:off x="3947314" y="2093690"/>
                  <a:ext cx="745366" cy="716257"/>
                  <a:chOff x="3139061" y="1941290"/>
                  <a:chExt cx="745366" cy="716257"/>
                </a:xfrm>
              </p:grpSpPr>
              <p:sp>
                <p:nvSpPr>
                  <p:cNvPr id="221" name="Google Shape;221;p20"/>
                  <p:cNvSpPr txBox="1"/>
                  <p:nvPr/>
                </p:nvSpPr>
                <p:spPr>
                  <a:xfrm>
                    <a:off x="3139061" y="1941290"/>
                    <a:ext cx="677564"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0B769F"/>
                        </a:solidFill>
                        <a:latin typeface="Arial"/>
                        <a:ea typeface="Arial"/>
                        <a:cs typeface="Arial"/>
                        <a:sym typeface="Arial"/>
                      </a:rPr>
                      <a:t>0.49</a:t>
                    </a:r>
                    <a:endParaRPr sz="1400"/>
                  </a:p>
                </p:txBody>
              </p:sp>
              <p:sp>
                <p:nvSpPr>
                  <p:cNvPr id="222" name="Google Shape;222;p20"/>
                  <p:cNvSpPr txBox="1"/>
                  <p:nvPr/>
                </p:nvSpPr>
                <p:spPr>
                  <a:xfrm>
                    <a:off x="3139061" y="2349811"/>
                    <a:ext cx="745366" cy="30773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1400">
                        <a:solidFill>
                          <a:srgbClr val="BF4F14"/>
                        </a:solidFill>
                        <a:latin typeface="Arial"/>
                        <a:ea typeface="Arial"/>
                        <a:cs typeface="Arial"/>
                        <a:sym typeface="Arial"/>
                      </a:rPr>
                      <a:t>0.3</a:t>
                    </a:r>
                    <a:endParaRPr sz="1400"/>
                  </a:p>
                </p:txBody>
              </p:sp>
            </p:grpSp>
            <p:grpSp>
              <p:nvGrpSpPr>
                <p:cNvPr id="223" name="Google Shape;223;p20"/>
                <p:cNvGrpSpPr/>
                <p:nvPr/>
              </p:nvGrpSpPr>
              <p:grpSpPr>
                <a:xfrm>
                  <a:off x="3291461" y="2093690"/>
                  <a:ext cx="745366" cy="716257"/>
                  <a:chOff x="3139061" y="1941290"/>
                  <a:chExt cx="745366" cy="716257"/>
                </a:xfrm>
              </p:grpSpPr>
              <p:sp>
                <p:nvSpPr>
                  <p:cNvPr id="224" name="Google Shape;224;p20"/>
                  <p:cNvSpPr txBox="1"/>
                  <p:nvPr/>
                </p:nvSpPr>
                <p:spPr>
                  <a:xfrm>
                    <a:off x="3206863" y="1941290"/>
                    <a:ext cx="677564"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a:solidFill>
                          <a:srgbClr val="0B769F"/>
                        </a:solidFill>
                        <a:latin typeface="Arial"/>
                        <a:ea typeface="Arial"/>
                        <a:cs typeface="Arial"/>
                        <a:sym typeface="Arial"/>
                      </a:rPr>
                      <a:t>pTM:</a:t>
                    </a:r>
                    <a:endParaRPr sz="1400"/>
                  </a:p>
                </p:txBody>
              </p:sp>
              <p:sp>
                <p:nvSpPr>
                  <p:cNvPr id="225" name="Google Shape;225;p20"/>
                  <p:cNvSpPr txBox="1"/>
                  <p:nvPr/>
                </p:nvSpPr>
                <p:spPr>
                  <a:xfrm>
                    <a:off x="3139061" y="2349811"/>
                    <a:ext cx="745366" cy="307736"/>
                  </a:xfrm>
                  <a:prstGeom prst="rect">
                    <a:avLst/>
                  </a:prstGeom>
                  <a:noFill/>
                  <a:ln>
                    <a:noFill/>
                  </a:ln>
                </p:spPr>
                <p:txBody>
                  <a:bodyPr spcFirstLastPara="1" wrap="square" lIns="91425" tIns="45700" rIns="91425" bIns="45700" anchor="t" anchorCtr="0">
                    <a:spAutoFit/>
                  </a:bodyPr>
                  <a:lstStyle/>
                  <a:p>
                    <a:pPr marL="0" marR="0" lvl="0" indent="0" algn="r" rtl="0">
                      <a:spcBef>
                        <a:spcPts val="0"/>
                      </a:spcBef>
                      <a:spcAft>
                        <a:spcPts val="0"/>
                      </a:spcAft>
                      <a:buNone/>
                    </a:pPr>
                    <a:r>
                      <a:rPr lang="en-GB" sz="1400" b="1">
                        <a:solidFill>
                          <a:srgbClr val="BF4F14"/>
                        </a:solidFill>
                        <a:latin typeface="Arial"/>
                        <a:ea typeface="Arial"/>
                        <a:cs typeface="Arial"/>
                        <a:sym typeface="Arial"/>
                      </a:rPr>
                      <a:t>ipTM:</a:t>
                    </a:r>
                    <a:endParaRPr sz="1400"/>
                  </a:p>
                </p:txBody>
              </p:sp>
            </p:grpSp>
          </p:grpSp>
          <p:sp>
            <p:nvSpPr>
              <p:cNvPr id="226" name="Google Shape;226;p20"/>
              <p:cNvSpPr/>
              <p:nvPr/>
            </p:nvSpPr>
            <p:spPr>
              <a:xfrm>
                <a:off x="2614819" y="5119695"/>
                <a:ext cx="574206" cy="586859"/>
              </a:xfrm>
              <a:prstGeom prst="rect">
                <a:avLst/>
              </a:prstGeom>
              <a:no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7" name="Google Shape;227;p20"/>
              <p:cNvSpPr/>
              <p:nvPr/>
            </p:nvSpPr>
            <p:spPr>
              <a:xfrm>
                <a:off x="2026031" y="4525539"/>
                <a:ext cx="573893" cy="586859"/>
              </a:xfrm>
              <a:prstGeom prst="rect">
                <a:avLst/>
              </a:prstGeom>
              <a:no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sp>
            <p:nvSpPr>
              <p:cNvPr id="228" name="Google Shape;228;p20"/>
              <p:cNvSpPr/>
              <p:nvPr/>
            </p:nvSpPr>
            <p:spPr>
              <a:xfrm>
                <a:off x="1437243" y="3931383"/>
                <a:ext cx="573893" cy="586859"/>
              </a:xfrm>
              <a:prstGeom prst="rect">
                <a:avLst/>
              </a:prstGeom>
              <a:noFill/>
              <a:ln w="25400" cap="flat" cmpd="sng">
                <a:solidFill>
                  <a:schemeClr val="dk1"/>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Arial"/>
                  <a:ea typeface="Arial"/>
                  <a:cs typeface="Arial"/>
                  <a:sym typeface="Arial"/>
                </a:endParaRPr>
              </a:p>
            </p:txBody>
          </p:sp>
        </p:grpSp>
      </p:grpSp>
      <p:sp>
        <p:nvSpPr>
          <p:cNvPr id="2" name="Text 0">
            <a:extLst>
              <a:ext uri="{FF2B5EF4-FFF2-40B4-BE49-F238E27FC236}">
                <a16:creationId xmlns:a16="http://schemas.microsoft.com/office/drawing/2014/main" id="{05C4583B-A3D8-6F56-6799-48F8A4A3D512}"/>
              </a:ext>
            </a:extLst>
          </p:cNvPr>
          <p:cNvSpPr/>
          <p:nvPr/>
        </p:nvSpPr>
        <p:spPr>
          <a:xfrm>
            <a:off x="204789" y="115462"/>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2</a:t>
            </a:r>
            <a:endParaRPr lang="en-US" sz="1200" dirty="0"/>
          </a:p>
        </p:txBody>
      </p:sp>
    </p:spTree>
    <p:extLst>
      <p:ext uri="{BB962C8B-B14F-4D97-AF65-F5344CB8AC3E}">
        <p14:creationId xmlns:p14="http://schemas.microsoft.com/office/powerpoint/2010/main" val="12165486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21"/>
          <p:cNvSpPr txBox="1"/>
          <p:nvPr/>
        </p:nvSpPr>
        <p:spPr>
          <a:xfrm>
            <a:off x="1335549" y="545824"/>
            <a:ext cx="9520903" cy="461624"/>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400" b="1" dirty="0">
                <a:solidFill>
                  <a:schemeClr val="dk1"/>
                </a:solidFill>
                <a:latin typeface="Cambria" panose="02040503050406030204" pitchFamily="18" charset="0"/>
                <a:ea typeface="Play"/>
                <a:cs typeface="Play"/>
                <a:sym typeface="Play"/>
              </a:rPr>
              <a:t>Crystal structure of </a:t>
            </a:r>
            <a:r>
              <a:rPr lang="en-GB" sz="2400" b="1" dirty="0" err="1">
                <a:solidFill>
                  <a:schemeClr val="dk1"/>
                </a:solidFill>
                <a:latin typeface="Cambria" panose="02040503050406030204" pitchFamily="18" charset="0"/>
                <a:ea typeface="Play"/>
                <a:cs typeface="Play"/>
                <a:sym typeface="Play"/>
              </a:rPr>
              <a:t>Pikp</a:t>
            </a:r>
            <a:r>
              <a:rPr lang="en-GB" sz="2400" b="1" dirty="0">
                <a:solidFill>
                  <a:schemeClr val="dk1"/>
                </a:solidFill>
                <a:latin typeface="Cambria" panose="02040503050406030204" pitchFamily="18" charset="0"/>
                <a:ea typeface="Play"/>
                <a:cs typeface="Play"/>
                <a:sym typeface="Play"/>
              </a:rPr>
              <a:t>-HMA has been solved as a homo-dimer</a:t>
            </a:r>
            <a:endParaRPr sz="1400" dirty="0">
              <a:latin typeface="Cambria" panose="02040503050406030204" pitchFamily="18" charset="0"/>
            </a:endParaRPr>
          </a:p>
        </p:txBody>
      </p:sp>
      <p:pic>
        <p:nvPicPr>
          <p:cNvPr id="234" name="Google Shape;234;p21" descr="A close-up of several structures&#10;&#10;AI-generated content may be incorrect."/>
          <p:cNvPicPr preferRelativeResize="0"/>
          <p:nvPr/>
        </p:nvPicPr>
        <p:blipFill rotWithShape="1">
          <a:blip r:embed="rId3">
            <a:alphaModFix/>
          </a:blip>
          <a:srcRect l="28338" b="69039"/>
          <a:stretch/>
        </p:blipFill>
        <p:spPr>
          <a:xfrm>
            <a:off x="3754463" y="1502482"/>
            <a:ext cx="4683072" cy="3853035"/>
          </a:xfrm>
          <a:prstGeom prst="rect">
            <a:avLst/>
          </a:prstGeom>
          <a:noFill/>
          <a:ln>
            <a:noFill/>
          </a:ln>
        </p:spPr>
      </p:pic>
      <p:sp>
        <p:nvSpPr>
          <p:cNvPr id="235" name="Google Shape;235;p21"/>
          <p:cNvSpPr txBox="1"/>
          <p:nvPr/>
        </p:nvSpPr>
        <p:spPr>
          <a:xfrm>
            <a:off x="2796626" y="5697406"/>
            <a:ext cx="6598747" cy="707886"/>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GB" sz="2000" b="1" dirty="0">
                <a:solidFill>
                  <a:schemeClr val="dk1"/>
                </a:solidFill>
                <a:latin typeface="Arial"/>
                <a:ea typeface="Arial"/>
                <a:cs typeface="Arial"/>
                <a:sym typeface="Arial"/>
              </a:rPr>
              <a:t>PDB: 5a6p</a:t>
            </a:r>
            <a:endParaRPr dirty="0"/>
          </a:p>
          <a:p>
            <a:pPr marL="0" marR="0" lvl="0" indent="0" algn="ctr" rtl="0">
              <a:spcBef>
                <a:spcPts val="0"/>
              </a:spcBef>
              <a:spcAft>
                <a:spcPts val="0"/>
              </a:spcAft>
              <a:buNone/>
            </a:pPr>
            <a:r>
              <a:rPr lang="en-GB" sz="2000" dirty="0">
                <a:solidFill>
                  <a:schemeClr val="dk1"/>
                </a:solidFill>
                <a:latin typeface="Arial"/>
                <a:ea typeface="Arial"/>
                <a:cs typeface="Arial"/>
                <a:sym typeface="Arial"/>
              </a:rPr>
              <a:t>(Maqbool et al., 2015, PMID: 26304198)</a:t>
            </a:r>
            <a:endParaRPr dirty="0"/>
          </a:p>
        </p:txBody>
      </p:sp>
    </p:spTree>
    <p:extLst>
      <p:ext uri="{BB962C8B-B14F-4D97-AF65-F5344CB8AC3E}">
        <p14:creationId xmlns:p14="http://schemas.microsoft.com/office/powerpoint/2010/main" val="357367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3</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Protein–protein interaction prediction</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8</a:t>
            </a:r>
            <a:endParaRPr lang="en-US" sz="900" dirty="0"/>
          </a:p>
        </p:txBody>
      </p:sp>
      <p:sp>
        <p:nvSpPr>
          <p:cNvPr id="6" name="Text 4"/>
          <p:cNvSpPr/>
          <p:nvPr/>
        </p:nvSpPr>
        <p:spPr>
          <a:xfrm>
            <a:off x="566928" y="1417320"/>
            <a:ext cx="11057839" cy="1005840"/>
          </a:xfrm>
          <a:prstGeom prst="rect">
            <a:avLst/>
          </a:prstGeom>
          <a:noFill/>
          <a:ln/>
        </p:spPr>
        <p:txBody>
          <a:bodyPr wrap="square" lIns="0" tIns="0" rIns="0" bIns="0" rtlCol="0" anchor="t"/>
          <a:lstStyle/>
          <a:p>
            <a:pPr marL="0" indent="0" algn="l">
              <a:lnSpc>
                <a:spcPct val="106000"/>
              </a:lnSpc>
              <a:spcAft>
                <a:spcPts val="900"/>
              </a:spcAft>
              <a:buNone/>
            </a:pPr>
            <a:r>
              <a:rPr lang="en-US" sz="1550" dirty="0">
                <a:solidFill>
                  <a:srgbClr val="233240"/>
                </a:solidFill>
                <a:latin typeface="Calibri" pitchFamily="34" charset="0"/>
                <a:ea typeface="Calibri" pitchFamily="34" charset="-122"/>
                <a:cs typeface="Calibri" pitchFamily="34" charset="-120"/>
              </a:rPr>
              <a:t>Next, model three different heteromeric complexes between pathogen proteins and the rice Pikp-1 domains. Your goal is to analyze the AF3 models and make a hypothesis about </a:t>
            </a:r>
            <a:r>
              <a:rPr lang="en-US" sz="1550" b="1" dirty="0">
                <a:solidFill>
                  <a:srgbClr val="1E6B88"/>
                </a:solidFill>
                <a:latin typeface="Calibri" pitchFamily="34" charset="0"/>
                <a:ea typeface="Calibri" pitchFamily="34" charset="-122"/>
                <a:cs typeface="Calibri" pitchFamily="34" charset="-120"/>
              </a:rPr>
              <a:t>which effector may interact with the plant host protein</a:t>
            </a:r>
            <a:r>
              <a:rPr lang="en-US" sz="1550" dirty="0">
                <a:solidFill>
                  <a:srgbClr val="233240"/>
                </a:solidFill>
                <a:latin typeface="Calibri" pitchFamily="34" charset="0"/>
                <a:ea typeface="Calibri" pitchFamily="34" charset="-122"/>
                <a:cs typeface="Calibri" pitchFamily="34" charset="-120"/>
              </a:rPr>
              <a:t>, based on the modelling confidence metrics alone.</a:t>
            </a:r>
            <a:endParaRPr lang="en-US" sz="1550" dirty="0"/>
          </a:p>
        </p:txBody>
      </p:sp>
      <p:sp>
        <p:nvSpPr>
          <p:cNvPr id="7" name="Shape 5"/>
          <p:cNvSpPr/>
          <p:nvPr/>
        </p:nvSpPr>
        <p:spPr>
          <a:xfrm>
            <a:off x="566928" y="2514600"/>
            <a:ext cx="11057839" cy="1215189"/>
          </a:xfrm>
          <a:prstGeom prst="roundRect">
            <a:avLst>
              <a:gd name="adj" fmla="val 2128"/>
            </a:avLst>
          </a:prstGeom>
          <a:solidFill>
            <a:srgbClr val="F4F8FA"/>
          </a:solidFill>
          <a:ln w="12700">
            <a:solidFill>
              <a:srgbClr val="D6E2E8"/>
            </a:solidFill>
            <a:prstDash val="solid"/>
          </a:ln>
        </p:spPr>
        <p:txBody>
          <a:bodyPr/>
          <a:lstStyle/>
          <a:p>
            <a:endParaRPr lang="en-US"/>
          </a:p>
        </p:txBody>
      </p:sp>
      <p:sp>
        <p:nvSpPr>
          <p:cNvPr id="8" name="Text 6"/>
          <p:cNvSpPr/>
          <p:nvPr/>
        </p:nvSpPr>
        <p:spPr>
          <a:xfrm>
            <a:off x="731520" y="2624328"/>
            <a:ext cx="10728655" cy="274320"/>
          </a:xfrm>
          <a:prstGeom prst="rect">
            <a:avLst/>
          </a:prstGeom>
          <a:noFill/>
          <a:ln/>
        </p:spPr>
        <p:txBody>
          <a:bodyPr wrap="square" lIns="0" tIns="0" rIns="0" bIns="0" rtlCol="0" anchor="ctr"/>
          <a:lstStyle/>
          <a:p>
            <a:pPr marL="0" indent="0" algn="l">
              <a:buNone/>
            </a:pPr>
            <a:r>
              <a:rPr lang="en-US" sz="1400" b="1" dirty="0">
                <a:solidFill>
                  <a:srgbClr val="1E6B88"/>
                </a:solidFill>
                <a:latin typeface="Courier New" pitchFamily="34" charset="0"/>
                <a:ea typeface="Courier New" pitchFamily="34" charset="-122"/>
                <a:cs typeface="Courier New" pitchFamily="34" charset="-120"/>
              </a:rPr>
              <a:t>&gt;Pikp-1_186-486</a:t>
            </a:r>
            <a:endParaRPr lang="en-US" sz="1400" dirty="0"/>
          </a:p>
        </p:txBody>
      </p:sp>
      <p:sp>
        <p:nvSpPr>
          <p:cNvPr id="9" name="Text 7"/>
          <p:cNvSpPr/>
          <p:nvPr/>
        </p:nvSpPr>
        <p:spPr>
          <a:xfrm>
            <a:off x="731520" y="2935224"/>
            <a:ext cx="10728655" cy="1618488"/>
          </a:xfrm>
          <a:prstGeom prst="rect">
            <a:avLst/>
          </a:prstGeom>
          <a:noFill/>
          <a:ln/>
        </p:spPr>
        <p:txBody>
          <a:bodyPr wrap="square" lIns="0" tIns="0" rIns="0" bIns="0" rtlCol="0" anchor="t"/>
          <a:lstStyle/>
          <a:p>
            <a:pPr marL="0" indent="0" algn="l">
              <a:lnSpc>
                <a:spcPct val="102000"/>
              </a:lnSpc>
              <a:buNone/>
            </a:pPr>
            <a:r>
              <a:rPr lang="en-US" sz="1150" dirty="0">
                <a:solidFill>
                  <a:srgbClr val="33454F"/>
                </a:solidFill>
                <a:latin typeface="Courier New" pitchFamily="34" charset="0"/>
                <a:ea typeface="Courier New" pitchFamily="34" charset="-122"/>
                <a:cs typeface="Courier New" pitchFamily="34" charset="-120"/>
              </a:rPr>
              <a:t>GLKQKIVIKVAMEGNNCRSKAMALVASTGGVDSVALVGDLRDKIEVVGYGIDPIKLISALRKKVGDAELLQVSQANKDVKETTPMLAPVKSICEFHKVKTVCILGLPGGGKTTVARELYDALGTHFPCRVFVSVSPSSSPSPNLTKTLADIFAQAQLGVTDTLSTSYGGSGTGRALQQHLIDNISAFLLNKKYLIVIDDIWHWEEWEVIRKSIPKNDLGGRIIMTTRLNSIAEKCHTDDNDVFVYEVGDLDNNDALSLSWGIATKSGAGNRIGTGEDNPCYDIVNMCYGMPLALIWLSSAL</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3</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Three pathogen effector candidates</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9</a:t>
            </a:r>
            <a:endParaRPr lang="en-US" sz="900" dirty="0"/>
          </a:p>
        </p:txBody>
      </p:sp>
      <p:sp>
        <p:nvSpPr>
          <p:cNvPr id="6" name="Text 4"/>
          <p:cNvSpPr/>
          <p:nvPr/>
        </p:nvSpPr>
        <p:spPr>
          <a:xfrm>
            <a:off x="566928" y="1371600"/>
            <a:ext cx="11057839" cy="502920"/>
          </a:xfrm>
          <a:prstGeom prst="rect">
            <a:avLst/>
          </a:prstGeom>
          <a:noFill/>
          <a:ln/>
        </p:spPr>
        <p:txBody>
          <a:bodyPr wrap="square" lIns="0" tIns="0" rIns="0" bIns="0" rtlCol="0" anchor="t"/>
          <a:lstStyle/>
          <a:p>
            <a:pPr marL="0" indent="0" algn="l">
              <a:lnSpc>
                <a:spcPct val="106000"/>
              </a:lnSpc>
              <a:spcAft>
                <a:spcPts val="900"/>
              </a:spcAft>
              <a:buNone/>
            </a:pPr>
            <a:r>
              <a:rPr lang="en-US" sz="1500" dirty="0">
                <a:solidFill>
                  <a:srgbClr val="233240"/>
                </a:solidFill>
                <a:latin typeface="Calibri" pitchFamily="34" charset="0"/>
                <a:ea typeface="Calibri" pitchFamily="34" charset="-122"/>
                <a:cs typeface="Calibri" pitchFamily="34" charset="-120"/>
              </a:rPr>
              <a:t>Amino acid sequences of three pathogen proteins secreted by the fungus </a:t>
            </a:r>
            <a:r>
              <a:rPr lang="en-US" sz="1500" i="1" dirty="0">
                <a:solidFill>
                  <a:srgbClr val="233240"/>
                </a:solidFill>
                <a:latin typeface="Calibri" pitchFamily="34" charset="0"/>
                <a:ea typeface="Calibri" pitchFamily="34" charset="-122"/>
                <a:cs typeface="Calibri" pitchFamily="34" charset="-120"/>
              </a:rPr>
              <a:t>Pyricularia oryzae</a:t>
            </a:r>
            <a:r>
              <a:rPr lang="en-US" sz="1500" dirty="0">
                <a:solidFill>
                  <a:srgbClr val="233240"/>
                </a:solidFill>
                <a:latin typeface="Calibri" pitchFamily="34" charset="0"/>
                <a:ea typeface="Calibri" pitchFamily="34" charset="-122"/>
                <a:cs typeface="Calibri" pitchFamily="34" charset="-120"/>
              </a:rPr>
              <a:t> (causal agent of rice blast disease):</a:t>
            </a:r>
            <a:endParaRPr lang="en-US" sz="1500" dirty="0"/>
          </a:p>
        </p:txBody>
      </p:sp>
      <p:sp>
        <p:nvSpPr>
          <p:cNvPr id="7" name="Shape 5"/>
          <p:cNvSpPr/>
          <p:nvPr/>
        </p:nvSpPr>
        <p:spPr>
          <a:xfrm>
            <a:off x="566928" y="1874520"/>
            <a:ext cx="11057839" cy="1051560"/>
          </a:xfrm>
          <a:prstGeom prst="roundRect">
            <a:avLst>
              <a:gd name="adj" fmla="val 4348"/>
            </a:avLst>
          </a:prstGeom>
          <a:solidFill>
            <a:srgbClr val="F4F8FA"/>
          </a:solidFill>
          <a:ln w="12700">
            <a:solidFill>
              <a:srgbClr val="D6E2E8"/>
            </a:solidFill>
            <a:prstDash val="solid"/>
          </a:ln>
        </p:spPr>
        <p:txBody>
          <a:bodyPr/>
          <a:lstStyle/>
          <a:p>
            <a:endParaRPr lang="en-US"/>
          </a:p>
        </p:txBody>
      </p:sp>
      <p:sp>
        <p:nvSpPr>
          <p:cNvPr id="8" name="Text 6"/>
          <p:cNvSpPr/>
          <p:nvPr/>
        </p:nvSpPr>
        <p:spPr>
          <a:xfrm>
            <a:off x="731520" y="1984248"/>
            <a:ext cx="10728655" cy="274320"/>
          </a:xfrm>
          <a:prstGeom prst="rect">
            <a:avLst/>
          </a:prstGeom>
          <a:noFill/>
          <a:ln/>
        </p:spPr>
        <p:txBody>
          <a:bodyPr wrap="square" lIns="0" tIns="0" rIns="0" bIns="0" rtlCol="0" anchor="ctr"/>
          <a:lstStyle/>
          <a:p>
            <a:pPr marL="0" indent="0" algn="l">
              <a:buNone/>
            </a:pPr>
            <a:r>
              <a:rPr lang="en-US" sz="1300" b="1" dirty="0">
                <a:solidFill>
                  <a:srgbClr val="1E6B88"/>
                </a:solidFill>
                <a:latin typeface="Courier New" pitchFamily="34" charset="0"/>
                <a:ea typeface="Courier New" pitchFamily="34" charset="-122"/>
                <a:cs typeface="Courier New" pitchFamily="34" charset="-120"/>
              </a:rPr>
              <a:t>&gt;Pathogen_protein_1  (AVR-PikD)</a:t>
            </a:r>
            <a:endParaRPr lang="en-US" sz="1300" dirty="0"/>
          </a:p>
        </p:txBody>
      </p:sp>
      <p:sp>
        <p:nvSpPr>
          <p:cNvPr id="9" name="Text 7"/>
          <p:cNvSpPr/>
          <p:nvPr/>
        </p:nvSpPr>
        <p:spPr>
          <a:xfrm>
            <a:off x="731520" y="2295144"/>
            <a:ext cx="10728655" cy="521208"/>
          </a:xfrm>
          <a:prstGeom prst="rect">
            <a:avLst/>
          </a:prstGeom>
          <a:noFill/>
          <a:ln/>
        </p:spPr>
        <p:txBody>
          <a:bodyPr wrap="square" lIns="0" tIns="0" rIns="0" bIns="0" rtlCol="0" anchor="t"/>
          <a:lstStyle/>
          <a:p>
            <a:pPr marL="0" indent="0" algn="l">
              <a:lnSpc>
                <a:spcPct val="102000"/>
              </a:lnSpc>
              <a:buNone/>
            </a:pPr>
            <a:r>
              <a:rPr lang="en-US" sz="1150" dirty="0">
                <a:solidFill>
                  <a:srgbClr val="33454F"/>
                </a:solidFill>
                <a:latin typeface="Courier New" pitchFamily="34" charset="0"/>
                <a:ea typeface="Courier New" pitchFamily="34" charset="-122"/>
                <a:cs typeface="Courier New" pitchFamily="34" charset="-120"/>
              </a:rPr>
              <a:t>ETGNKYIEKRAIDLSRERDPNFFDHPGIPVPECFWFMFKNNVRQDAGTCYSSWKMDMKVGPNWVHIKSDDNCNLSGDFPPGWIVLGKKRPGF</a:t>
            </a:r>
            <a:endParaRPr lang="en-US" sz="1150" dirty="0"/>
          </a:p>
        </p:txBody>
      </p:sp>
      <p:sp>
        <p:nvSpPr>
          <p:cNvPr id="10" name="Shape 8"/>
          <p:cNvSpPr/>
          <p:nvPr/>
        </p:nvSpPr>
        <p:spPr>
          <a:xfrm>
            <a:off x="566928" y="3017520"/>
            <a:ext cx="11057839" cy="896112"/>
          </a:xfrm>
          <a:prstGeom prst="roundRect">
            <a:avLst>
              <a:gd name="adj" fmla="val 5102"/>
            </a:avLst>
          </a:prstGeom>
          <a:solidFill>
            <a:srgbClr val="F4F8FA"/>
          </a:solidFill>
          <a:ln w="12700">
            <a:solidFill>
              <a:srgbClr val="D6E2E8"/>
            </a:solidFill>
            <a:prstDash val="solid"/>
          </a:ln>
        </p:spPr>
        <p:txBody>
          <a:bodyPr/>
          <a:lstStyle/>
          <a:p>
            <a:endParaRPr lang="en-US"/>
          </a:p>
        </p:txBody>
      </p:sp>
      <p:sp>
        <p:nvSpPr>
          <p:cNvPr id="11" name="Text 9"/>
          <p:cNvSpPr/>
          <p:nvPr/>
        </p:nvSpPr>
        <p:spPr>
          <a:xfrm>
            <a:off x="731520" y="3127248"/>
            <a:ext cx="10728655" cy="274320"/>
          </a:xfrm>
          <a:prstGeom prst="rect">
            <a:avLst/>
          </a:prstGeom>
          <a:noFill/>
          <a:ln/>
        </p:spPr>
        <p:txBody>
          <a:bodyPr wrap="square" lIns="0" tIns="0" rIns="0" bIns="0" rtlCol="0" anchor="ctr"/>
          <a:lstStyle/>
          <a:p>
            <a:pPr marL="0" indent="0" algn="l">
              <a:buNone/>
            </a:pPr>
            <a:r>
              <a:rPr lang="en-US" sz="1300" b="1" dirty="0">
                <a:solidFill>
                  <a:srgbClr val="1E6B88"/>
                </a:solidFill>
                <a:latin typeface="Courier New" pitchFamily="34" charset="0"/>
                <a:ea typeface="Courier New" pitchFamily="34" charset="-122"/>
                <a:cs typeface="Courier New" pitchFamily="34" charset="-120"/>
              </a:rPr>
              <a:t>&gt;Pathogen_protein_2  (AVR-Pib)</a:t>
            </a:r>
            <a:endParaRPr lang="en-US" sz="1300" dirty="0"/>
          </a:p>
        </p:txBody>
      </p:sp>
      <p:sp>
        <p:nvSpPr>
          <p:cNvPr id="12" name="Text 10"/>
          <p:cNvSpPr/>
          <p:nvPr/>
        </p:nvSpPr>
        <p:spPr>
          <a:xfrm>
            <a:off x="731520" y="3438144"/>
            <a:ext cx="10728655" cy="365760"/>
          </a:xfrm>
          <a:prstGeom prst="rect">
            <a:avLst/>
          </a:prstGeom>
          <a:noFill/>
          <a:ln/>
        </p:spPr>
        <p:txBody>
          <a:bodyPr wrap="square" lIns="0" tIns="0" rIns="0" bIns="0" rtlCol="0" anchor="t"/>
          <a:lstStyle/>
          <a:p>
            <a:pPr marL="0" indent="0" algn="l">
              <a:lnSpc>
                <a:spcPct val="102000"/>
              </a:lnSpc>
              <a:buNone/>
            </a:pPr>
            <a:r>
              <a:rPr lang="en-US" sz="1150" dirty="0">
                <a:solidFill>
                  <a:srgbClr val="33454F"/>
                </a:solidFill>
                <a:latin typeface="Courier New" pitchFamily="34" charset="0"/>
                <a:ea typeface="Courier New" pitchFamily="34" charset="-122"/>
                <a:cs typeface="Courier New" pitchFamily="34" charset="-120"/>
              </a:rPr>
              <a:t>ATQVTILKKGERITWVEVPKGESREFNIRGKYFTVSVSDDGTPSISGSKYTVE</a:t>
            </a:r>
            <a:endParaRPr lang="en-US" sz="1150" dirty="0"/>
          </a:p>
        </p:txBody>
      </p:sp>
      <p:sp>
        <p:nvSpPr>
          <p:cNvPr id="13" name="Shape 11"/>
          <p:cNvSpPr/>
          <p:nvPr/>
        </p:nvSpPr>
        <p:spPr>
          <a:xfrm>
            <a:off x="566928" y="4023360"/>
            <a:ext cx="11057839" cy="896112"/>
          </a:xfrm>
          <a:prstGeom prst="roundRect">
            <a:avLst>
              <a:gd name="adj" fmla="val 5102"/>
            </a:avLst>
          </a:prstGeom>
          <a:solidFill>
            <a:srgbClr val="F4F8FA"/>
          </a:solidFill>
          <a:ln w="12700">
            <a:solidFill>
              <a:srgbClr val="D6E2E8"/>
            </a:solidFill>
            <a:prstDash val="solid"/>
          </a:ln>
        </p:spPr>
        <p:txBody>
          <a:bodyPr/>
          <a:lstStyle/>
          <a:p>
            <a:endParaRPr lang="en-US"/>
          </a:p>
        </p:txBody>
      </p:sp>
      <p:sp>
        <p:nvSpPr>
          <p:cNvPr id="14" name="Text 12"/>
          <p:cNvSpPr/>
          <p:nvPr/>
        </p:nvSpPr>
        <p:spPr>
          <a:xfrm>
            <a:off x="731520" y="4133088"/>
            <a:ext cx="10728655" cy="274320"/>
          </a:xfrm>
          <a:prstGeom prst="rect">
            <a:avLst/>
          </a:prstGeom>
          <a:noFill/>
          <a:ln/>
        </p:spPr>
        <p:txBody>
          <a:bodyPr wrap="square" lIns="0" tIns="0" rIns="0" bIns="0" rtlCol="0" anchor="ctr"/>
          <a:lstStyle/>
          <a:p>
            <a:pPr marL="0" indent="0" algn="l">
              <a:buNone/>
            </a:pPr>
            <a:r>
              <a:rPr lang="en-US" sz="1300" b="1" dirty="0">
                <a:solidFill>
                  <a:srgbClr val="1E6B88"/>
                </a:solidFill>
                <a:latin typeface="Courier New" pitchFamily="34" charset="0"/>
                <a:ea typeface="Courier New" pitchFamily="34" charset="-122"/>
                <a:cs typeface="Courier New" pitchFamily="34" charset="-120"/>
              </a:rPr>
              <a:t>&gt;Pathogen_protein_3  (AVR-Pii)</a:t>
            </a:r>
            <a:endParaRPr lang="en-US" sz="1300" dirty="0"/>
          </a:p>
        </p:txBody>
      </p:sp>
      <p:sp>
        <p:nvSpPr>
          <p:cNvPr id="15" name="Text 13"/>
          <p:cNvSpPr/>
          <p:nvPr/>
        </p:nvSpPr>
        <p:spPr>
          <a:xfrm>
            <a:off x="731520" y="4443984"/>
            <a:ext cx="10728655" cy="365760"/>
          </a:xfrm>
          <a:prstGeom prst="rect">
            <a:avLst/>
          </a:prstGeom>
          <a:noFill/>
          <a:ln/>
        </p:spPr>
        <p:txBody>
          <a:bodyPr wrap="square" lIns="0" tIns="0" rIns="0" bIns="0" rtlCol="0" anchor="t"/>
          <a:lstStyle/>
          <a:p>
            <a:pPr marL="0" indent="0" algn="l">
              <a:lnSpc>
                <a:spcPct val="102000"/>
              </a:lnSpc>
              <a:buNone/>
            </a:pPr>
            <a:r>
              <a:rPr lang="en-US" sz="1150" dirty="0">
                <a:solidFill>
                  <a:srgbClr val="33454F"/>
                </a:solidFill>
                <a:latin typeface="Courier New" pitchFamily="34" charset="0"/>
                <a:ea typeface="Courier New" pitchFamily="34" charset="-122"/>
                <a:cs typeface="Courier New" pitchFamily="34" charset="-120"/>
              </a:rPr>
              <a:t>LPTPASLNGNTEVATISDVKLEARSDTTYHKCSKCGYGSDDSDAYFNHKCN</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66928" y="384048"/>
            <a:ext cx="11057839" cy="274320"/>
          </a:xfrm>
          <a:prstGeom prst="rect">
            <a:avLst/>
          </a:prstGeom>
          <a:noFill/>
          <a:ln/>
        </p:spPr>
        <p:txBody>
          <a:bodyPr wrap="square" lIns="0" tIns="0" rIns="0" bIns="0" rtlCol="0" anchor="ctr"/>
          <a:lstStyle/>
          <a:p>
            <a:pPr marL="0" indent="0" algn="l">
              <a:buNone/>
            </a:pPr>
            <a:r>
              <a:rPr lang="en-US" sz="1200" b="1" kern="0" spc="200" dirty="0">
                <a:solidFill>
                  <a:srgbClr val="2B89AD"/>
                </a:solidFill>
                <a:latin typeface="Calibri" pitchFamily="34" charset="0"/>
                <a:ea typeface="Calibri" pitchFamily="34" charset="-122"/>
                <a:cs typeface="Calibri" pitchFamily="34" charset="-120"/>
              </a:rPr>
              <a:t>EXERCISE 3</a:t>
            </a:r>
            <a:endParaRPr lang="en-US" sz="1200" dirty="0"/>
          </a:p>
        </p:txBody>
      </p:sp>
      <p:sp>
        <p:nvSpPr>
          <p:cNvPr id="3" name="Text 1"/>
          <p:cNvSpPr/>
          <p:nvPr/>
        </p:nvSpPr>
        <p:spPr>
          <a:xfrm>
            <a:off x="566928" y="658368"/>
            <a:ext cx="11057839" cy="658368"/>
          </a:xfrm>
          <a:prstGeom prst="rect">
            <a:avLst/>
          </a:prstGeom>
          <a:noFill/>
          <a:ln/>
        </p:spPr>
        <p:txBody>
          <a:bodyPr wrap="square" lIns="0" tIns="0" rIns="0" bIns="0" rtlCol="0" anchor="t"/>
          <a:lstStyle/>
          <a:p>
            <a:pPr marL="0" indent="0" algn="l">
              <a:buNone/>
            </a:pPr>
            <a:r>
              <a:rPr lang="en-US" sz="2900" b="1" dirty="0">
                <a:solidFill>
                  <a:srgbClr val="16283D"/>
                </a:solidFill>
                <a:latin typeface="Cambria" pitchFamily="34" charset="0"/>
                <a:ea typeface="Cambria" pitchFamily="34" charset="-122"/>
                <a:cs typeface="Cambria" pitchFamily="34" charset="-120"/>
              </a:rPr>
              <a:t>Form and test your hypothesis</a:t>
            </a:r>
            <a:endParaRPr lang="en-US" sz="2900" dirty="0"/>
          </a:p>
        </p:txBody>
      </p:sp>
      <p:sp>
        <p:nvSpPr>
          <p:cNvPr id="4" name="Text 2"/>
          <p:cNvSpPr/>
          <p:nvPr/>
        </p:nvSpPr>
        <p:spPr>
          <a:xfrm>
            <a:off x="566928" y="6455664"/>
            <a:ext cx="8686800" cy="274320"/>
          </a:xfrm>
          <a:prstGeom prst="rect">
            <a:avLst/>
          </a:prstGeom>
          <a:noFill/>
          <a:ln/>
        </p:spPr>
        <p:txBody>
          <a:bodyPr wrap="square" lIns="0" tIns="0" rIns="0" bIns="0" rtlCol="0" anchor="ctr"/>
          <a:lstStyle/>
          <a:p>
            <a:pPr marL="0" indent="0" algn="l">
              <a:buNone/>
            </a:pPr>
            <a:r>
              <a:rPr lang="en-US" sz="900" dirty="0">
                <a:solidFill>
                  <a:srgbClr val="657585"/>
                </a:solidFill>
                <a:latin typeface="Calibri" pitchFamily="34" charset="0"/>
                <a:ea typeface="Calibri" pitchFamily="34" charset="-122"/>
                <a:cs typeface="Calibri" pitchFamily="34" charset="-120"/>
              </a:rPr>
              <a:t>AlphaFold 3 &amp; ChimeraX Workshop  ·  Kamoun Group  ·  TSL GG-AI-Workshop 2026</a:t>
            </a:r>
            <a:endParaRPr lang="en-US" sz="900" dirty="0"/>
          </a:p>
        </p:txBody>
      </p:sp>
      <p:sp>
        <p:nvSpPr>
          <p:cNvPr id="5" name="Text 3"/>
          <p:cNvSpPr/>
          <p:nvPr/>
        </p:nvSpPr>
        <p:spPr>
          <a:xfrm>
            <a:off x="11064240" y="6455664"/>
            <a:ext cx="548640" cy="274320"/>
          </a:xfrm>
          <a:prstGeom prst="rect">
            <a:avLst/>
          </a:prstGeom>
          <a:noFill/>
          <a:ln/>
        </p:spPr>
        <p:txBody>
          <a:bodyPr wrap="square" lIns="0" tIns="0" rIns="0" bIns="0" rtlCol="0" anchor="ctr"/>
          <a:lstStyle/>
          <a:p>
            <a:pPr marL="0" indent="0" algn="r">
              <a:buNone/>
            </a:pPr>
            <a:r>
              <a:rPr lang="en-US" sz="900" dirty="0">
                <a:solidFill>
                  <a:srgbClr val="657585"/>
                </a:solidFill>
                <a:latin typeface="Calibri" pitchFamily="34" charset="0"/>
                <a:ea typeface="Calibri" pitchFamily="34" charset="-122"/>
                <a:cs typeface="Calibri" pitchFamily="34" charset="-120"/>
              </a:rPr>
              <a:t>10</a:t>
            </a:r>
            <a:endParaRPr lang="en-US" sz="900" dirty="0"/>
          </a:p>
        </p:txBody>
      </p:sp>
      <p:sp>
        <p:nvSpPr>
          <p:cNvPr id="6" name="Shape 4"/>
          <p:cNvSpPr/>
          <p:nvPr/>
        </p:nvSpPr>
        <p:spPr>
          <a:xfrm>
            <a:off x="566928" y="1463040"/>
            <a:ext cx="11057839" cy="2402790"/>
          </a:xfrm>
          <a:prstGeom prst="roundRect">
            <a:avLst>
              <a:gd name="adj" fmla="val 1609"/>
            </a:avLst>
          </a:prstGeom>
          <a:solidFill>
            <a:srgbClr val="FBF0DC"/>
          </a:solidFill>
          <a:ln w="15875">
            <a:solidFill>
              <a:srgbClr val="EBCF9A"/>
            </a:solidFill>
            <a:prstDash val="solid"/>
          </a:ln>
        </p:spPr>
        <p:txBody>
          <a:bodyPr/>
          <a:lstStyle/>
          <a:p>
            <a:endParaRPr lang="en-US"/>
          </a:p>
        </p:txBody>
      </p:sp>
      <p:sp>
        <p:nvSpPr>
          <p:cNvPr id="7" name="Shape 5"/>
          <p:cNvSpPr/>
          <p:nvPr/>
        </p:nvSpPr>
        <p:spPr>
          <a:xfrm>
            <a:off x="822960" y="1700784"/>
            <a:ext cx="457200" cy="457200"/>
          </a:xfrm>
          <a:prstGeom prst="ellipse">
            <a:avLst/>
          </a:prstGeom>
          <a:solidFill>
            <a:srgbClr val="D98B2B"/>
          </a:solidFill>
          <a:ln/>
        </p:spPr>
        <p:txBody>
          <a:bodyPr/>
          <a:lstStyle/>
          <a:p>
            <a:endParaRPr lang="en-US"/>
          </a:p>
        </p:txBody>
      </p:sp>
      <p:sp>
        <p:nvSpPr>
          <p:cNvPr id="8" name="Text 6"/>
          <p:cNvSpPr/>
          <p:nvPr/>
        </p:nvSpPr>
        <p:spPr>
          <a:xfrm>
            <a:off x="822960" y="1682496"/>
            <a:ext cx="457200" cy="457200"/>
          </a:xfrm>
          <a:prstGeom prst="rect">
            <a:avLst/>
          </a:prstGeom>
          <a:noFill/>
          <a:ln/>
        </p:spPr>
        <p:txBody>
          <a:bodyPr wrap="square" lIns="0" tIns="0" rIns="0" bIns="0" rtlCol="0" anchor="ctr"/>
          <a:lstStyle/>
          <a:p>
            <a:pPr marL="0" indent="0" algn="ctr">
              <a:buNone/>
            </a:pPr>
            <a:r>
              <a:rPr lang="en-US" sz="2400" b="1" dirty="0">
                <a:solidFill>
                  <a:srgbClr val="FFFFFF"/>
                </a:solidFill>
                <a:latin typeface="Cambria" pitchFamily="34" charset="0"/>
                <a:ea typeface="Cambria" pitchFamily="34" charset="-122"/>
                <a:cs typeface="Cambria" pitchFamily="34" charset="-120"/>
              </a:rPr>
              <a:t>?</a:t>
            </a:r>
            <a:endParaRPr lang="en-US" sz="2400" dirty="0"/>
          </a:p>
        </p:txBody>
      </p:sp>
      <p:sp>
        <p:nvSpPr>
          <p:cNvPr id="9" name="Text 7"/>
          <p:cNvSpPr/>
          <p:nvPr/>
        </p:nvSpPr>
        <p:spPr>
          <a:xfrm>
            <a:off x="1435608" y="1719072"/>
            <a:ext cx="9960559" cy="365760"/>
          </a:xfrm>
          <a:prstGeom prst="rect">
            <a:avLst/>
          </a:prstGeom>
          <a:noFill/>
          <a:ln/>
        </p:spPr>
        <p:txBody>
          <a:bodyPr wrap="square" lIns="0" tIns="0" rIns="0" bIns="0" rtlCol="0" anchor="ctr"/>
          <a:lstStyle/>
          <a:p>
            <a:pPr marL="0" indent="0" algn="l">
              <a:buNone/>
            </a:pPr>
            <a:r>
              <a:rPr lang="en-US" sz="1400" b="1" kern="0" spc="200" dirty="0">
                <a:solidFill>
                  <a:srgbClr val="9A6410"/>
                </a:solidFill>
                <a:latin typeface="Calibri" pitchFamily="34" charset="0"/>
                <a:ea typeface="Calibri" pitchFamily="34" charset="-122"/>
                <a:cs typeface="Calibri" pitchFamily="34" charset="-120"/>
              </a:rPr>
              <a:t>DISCUSSION</a:t>
            </a:r>
            <a:endParaRPr lang="en-US" sz="1400" dirty="0"/>
          </a:p>
        </p:txBody>
      </p:sp>
      <p:sp>
        <p:nvSpPr>
          <p:cNvPr id="10" name="Text 8"/>
          <p:cNvSpPr/>
          <p:nvPr/>
        </p:nvSpPr>
        <p:spPr>
          <a:xfrm>
            <a:off x="1435608" y="2176272"/>
            <a:ext cx="9914839" cy="1517542"/>
          </a:xfrm>
          <a:prstGeom prst="rect">
            <a:avLst/>
          </a:prstGeom>
          <a:noFill/>
          <a:ln/>
        </p:spPr>
        <p:txBody>
          <a:bodyPr wrap="square" lIns="0" tIns="0" rIns="0" bIns="0" rtlCol="0" anchor="t"/>
          <a:lstStyle/>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a)  </a:t>
            </a:r>
            <a:r>
              <a:rPr lang="en-US" sz="1600" dirty="0">
                <a:solidFill>
                  <a:srgbClr val="5A4218"/>
                </a:solidFill>
                <a:latin typeface="Calibri" pitchFamily="34" charset="0"/>
                <a:ea typeface="Calibri" pitchFamily="34" charset="-122"/>
                <a:cs typeface="Calibri" pitchFamily="34" charset="-120"/>
              </a:rPr>
              <a:t>Based on these modelling results, which pathogen effector(s) is most likely to interact with the rice Pikp-1? What confidence metrics allow you to conclude this?</a:t>
            </a:r>
            <a:endParaRPr lang="en-US" sz="1600" dirty="0"/>
          </a:p>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b)  </a:t>
            </a:r>
            <a:r>
              <a:rPr lang="en-US" sz="1600" dirty="0">
                <a:solidFill>
                  <a:srgbClr val="5A4218"/>
                </a:solidFill>
                <a:latin typeface="Calibri" pitchFamily="34" charset="0"/>
                <a:ea typeface="Calibri" pitchFamily="34" charset="-122"/>
                <a:cs typeface="Calibri" pitchFamily="34" charset="-120"/>
              </a:rPr>
              <a:t>Based on the modelling results, which Pikp-1 domain contributes to binding to the pathogen protein?</a:t>
            </a:r>
            <a:endParaRPr lang="en-US" sz="1600" dirty="0"/>
          </a:p>
          <a:p>
            <a:pPr marL="0" indent="0" algn="l">
              <a:lnSpc>
                <a:spcPct val="102000"/>
              </a:lnSpc>
              <a:spcAft>
                <a:spcPts val="1400"/>
              </a:spcAft>
              <a:buNone/>
            </a:pPr>
            <a:r>
              <a:rPr lang="en-US" sz="1600" b="1" dirty="0">
                <a:solidFill>
                  <a:srgbClr val="D98B2B"/>
                </a:solidFill>
                <a:latin typeface="Calibri" pitchFamily="34" charset="0"/>
                <a:ea typeface="Calibri" pitchFamily="34" charset="-122"/>
                <a:cs typeface="Calibri" pitchFamily="34" charset="-120"/>
              </a:rPr>
              <a:t>c)  </a:t>
            </a:r>
            <a:r>
              <a:rPr lang="en-US" sz="1600" dirty="0">
                <a:solidFill>
                  <a:srgbClr val="5A4218"/>
                </a:solidFill>
                <a:latin typeface="Calibri" pitchFamily="34" charset="0"/>
                <a:ea typeface="Calibri" pitchFamily="34" charset="-122"/>
                <a:cs typeface="Calibri" pitchFamily="34" charset="-120"/>
              </a:rPr>
              <a:t>What kind of experiments would you perform to test this hypothesis?</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818"/>
        <p:cNvGrpSpPr/>
        <p:nvPr/>
      </p:nvGrpSpPr>
      <p:grpSpPr>
        <a:xfrm>
          <a:off x="0" y="0"/>
          <a:ext cx="0" cy="0"/>
          <a:chOff x="0" y="0"/>
          <a:chExt cx="0" cy="0"/>
        </a:xfrm>
      </p:grpSpPr>
      <p:sp>
        <p:nvSpPr>
          <p:cNvPr id="819" name="Google Shape;819;p51"/>
          <p:cNvSpPr txBox="1"/>
          <p:nvPr/>
        </p:nvSpPr>
        <p:spPr>
          <a:xfrm>
            <a:off x="1335652" y="410547"/>
            <a:ext cx="9520800" cy="369291"/>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3200"/>
              <a:buFont typeface="Play"/>
              <a:buNone/>
              <a:tabLst/>
              <a:defRPr/>
            </a:pPr>
            <a:r>
              <a:rPr kumimoji="0" lang="es-ES" b="1" i="0" u="none" strike="noStrike" kern="0" cap="none" spc="0" normalizeH="0" baseline="0" noProof="0" dirty="0">
                <a:ln>
                  <a:noFill/>
                </a:ln>
                <a:solidFill>
                  <a:srgbClr val="000000"/>
                </a:solidFill>
                <a:effectLst/>
                <a:uLnTx/>
                <a:uFillTx/>
                <a:latin typeface="Cambria" panose="02040503050406030204" pitchFamily="18" charset="0"/>
                <a:cs typeface="Arial"/>
                <a:sym typeface="Arial"/>
              </a:rPr>
              <a:t>Pathogen_protein_1 shows </a:t>
            </a:r>
            <a:r>
              <a:rPr kumimoji="0" lang="es-ES" b="1" i="0" u="none" strike="noStrike" kern="0" cap="none" spc="0" normalizeH="0" baseline="0" noProof="0" dirty="0" err="1">
                <a:ln>
                  <a:noFill/>
                </a:ln>
                <a:solidFill>
                  <a:srgbClr val="000000"/>
                </a:solidFill>
                <a:effectLst/>
                <a:uLnTx/>
                <a:uFillTx/>
                <a:latin typeface="Cambria" panose="02040503050406030204" pitchFamily="18" charset="0"/>
                <a:cs typeface="Arial"/>
                <a:sym typeface="Arial"/>
              </a:rPr>
              <a:t>the</a:t>
            </a:r>
            <a:r>
              <a:rPr kumimoji="0" lang="es-ES" b="1" i="0" u="none" strike="noStrike" kern="0" cap="none" spc="0" normalizeH="0" baseline="0" noProof="0" dirty="0">
                <a:ln>
                  <a:noFill/>
                </a:ln>
                <a:solidFill>
                  <a:srgbClr val="000000"/>
                </a:solidFill>
                <a:effectLst/>
                <a:uLnTx/>
                <a:uFillTx/>
                <a:latin typeface="Cambria" panose="02040503050406030204" pitchFamily="18" charset="0"/>
                <a:cs typeface="Arial"/>
                <a:sym typeface="Arial"/>
              </a:rPr>
              <a:t> </a:t>
            </a:r>
            <a:r>
              <a:rPr kumimoji="0" lang="es-ES" b="1" i="0" u="none" strike="noStrike" kern="0" cap="none" spc="0" normalizeH="0" baseline="0" noProof="0" dirty="0" err="1">
                <a:ln>
                  <a:noFill/>
                </a:ln>
                <a:solidFill>
                  <a:srgbClr val="000000"/>
                </a:solidFill>
                <a:effectLst/>
                <a:uLnTx/>
                <a:uFillTx/>
                <a:latin typeface="Cambria" panose="02040503050406030204" pitchFamily="18" charset="0"/>
                <a:cs typeface="Arial"/>
                <a:sym typeface="Arial"/>
              </a:rPr>
              <a:t>highest</a:t>
            </a:r>
            <a:r>
              <a:rPr kumimoji="0" lang="es-ES" b="1" i="0" u="none" strike="noStrike" kern="0" cap="none" spc="0" normalizeH="0" baseline="0" noProof="0" dirty="0">
                <a:ln>
                  <a:noFill/>
                </a:ln>
                <a:solidFill>
                  <a:srgbClr val="000000"/>
                </a:solidFill>
                <a:effectLst/>
                <a:uLnTx/>
                <a:uFillTx/>
                <a:latin typeface="Cambria" panose="02040503050406030204" pitchFamily="18" charset="0"/>
                <a:cs typeface="Arial"/>
                <a:sym typeface="Arial"/>
              </a:rPr>
              <a:t> </a:t>
            </a:r>
            <a:r>
              <a:rPr kumimoji="0" lang="es-ES" b="1" i="0" u="none" strike="noStrike" kern="0" cap="none" spc="0" normalizeH="0" baseline="0" noProof="0" dirty="0" err="1">
                <a:ln>
                  <a:noFill/>
                </a:ln>
                <a:solidFill>
                  <a:srgbClr val="000000"/>
                </a:solidFill>
                <a:effectLst/>
                <a:uLnTx/>
                <a:uFillTx/>
                <a:latin typeface="Cambria" panose="02040503050406030204" pitchFamily="18" charset="0"/>
                <a:cs typeface="Arial"/>
                <a:sym typeface="Arial"/>
              </a:rPr>
              <a:t>ipTM</a:t>
            </a:r>
            <a:r>
              <a:rPr kumimoji="0" lang="es-ES" b="1" i="0" u="none" strike="noStrike" kern="0" cap="none" spc="0" normalizeH="0" baseline="0" noProof="0" dirty="0">
                <a:ln>
                  <a:noFill/>
                </a:ln>
                <a:solidFill>
                  <a:srgbClr val="000000"/>
                </a:solidFill>
                <a:effectLst/>
                <a:uLnTx/>
                <a:uFillTx/>
                <a:latin typeface="Cambria" panose="02040503050406030204" pitchFamily="18" charset="0"/>
                <a:cs typeface="Arial"/>
                <a:sym typeface="Arial"/>
              </a:rPr>
              <a:t> score</a:t>
            </a:r>
            <a:endParaRPr kumimoji="0" sz="1050" b="1" i="0" u="none" strike="noStrike" kern="0" cap="none" spc="0" normalizeH="0" baseline="0" noProof="0" dirty="0">
              <a:ln>
                <a:noFill/>
              </a:ln>
              <a:solidFill>
                <a:srgbClr val="000000"/>
              </a:solidFill>
              <a:effectLst/>
              <a:uLnTx/>
              <a:uFillTx/>
              <a:latin typeface="Cambria" panose="02040503050406030204" pitchFamily="18" charset="0"/>
              <a:cs typeface="Arial"/>
              <a:sym typeface="Arial"/>
            </a:endParaRPr>
          </a:p>
        </p:txBody>
      </p:sp>
      <p:sp>
        <p:nvSpPr>
          <p:cNvPr id="820" name="Google Shape;820;p51"/>
          <p:cNvSpPr txBox="1"/>
          <p:nvPr/>
        </p:nvSpPr>
        <p:spPr>
          <a:xfrm>
            <a:off x="8569632" y="4810702"/>
            <a:ext cx="2534791" cy="7078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Pathogen_protein_3</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(AVR-Pii)</a:t>
            </a:r>
            <a:endParaRPr kumimoji="0" sz="2000" b="0" i="0" u="none" strike="noStrike" kern="0" cap="none" spc="0" normalizeH="0" baseline="0" noProof="0">
              <a:ln>
                <a:noFill/>
              </a:ln>
              <a:solidFill>
                <a:srgbClr val="78206E"/>
              </a:solidFill>
              <a:effectLst/>
              <a:uLnTx/>
              <a:uFillTx/>
              <a:latin typeface="Arial"/>
              <a:ea typeface="Arial"/>
              <a:cs typeface="Arial"/>
              <a:sym typeface="Arial"/>
            </a:endParaRPr>
          </a:p>
        </p:txBody>
      </p:sp>
      <p:pic>
        <p:nvPicPr>
          <p:cNvPr id="821" name="Google Shape;821;p51" descr="A green and white graph&#10;&#10;AI-generated content may be incorrect."/>
          <p:cNvPicPr preferRelativeResize="0"/>
          <p:nvPr/>
        </p:nvPicPr>
        <p:blipFill rotWithShape="1">
          <a:blip r:embed="rId3">
            <a:alphaModFix/>
          </a:blip>
          <a:srcRect/>
          <a:stretch/>
        </p:blipFill>
        <p:spPr>
          <a:xfrm>
            <a:off x="7975059" y="1339072"/>
            <a:ext cx="3307704" cy="3340212"/>
          </a:xfrm>
          <a:prstGeom prst="rect">
            <a:avLst/>
          </a:prstGeom>
          <a:noFill/>
          <a:ln>
            <a:noFill/>
          </a:ln>
        </p:spPr>
      </p:pic>
      <p:pic>
        <p:nvPicPr>
          <p:cNvPr id="822" name="Google Shape;822;p51" descr="A green and white graph&#10;&#10;AI-generated content may be incorrect."/>
          <p:cNvPicPr preferRelativeResize="0"/>
          <p:nvPr/>
        </p:nvPicPr>
        <p:blipFill rotWithShape="1">
          <a:blip r:embed="rId4">
            <a:alphaModFix/>
          </a:blip>
          <a:srcRect/>
          <a:stretch/>
        </p:blipFill>
        <p:spPr>
          <a:xfrm>
            <a:off x="515870" y="1339072"/>
            <a:ext cx="3307704" cy="3299695"/>
          </a:xfrm>
          <a:prstGeom prst="rect">
            <a:avLst/>
          </a:prstGeom>
          <a:noFill/>
          <a:ln>
            <a:noFill/>
          </a:ln>
        </p:spPr>
      </p:pic>
      <p:sp>
        <p:nvSpPr>
          <p:cNvPr id="823" name="Google Shape;823;p51"/>
          <p:cNvSpPr txBox="1"/>
          <p:nvPr/>
        </p:nvSpPr>
        <p:spPr>
          <a:xfrm>
            <a:off x="1127863" y="4679284"/>
            <a:ext cx="2534791" cy="7078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Pathogen_protein_1</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(AVR-PikD)</a:t>
            </a:r>
            <a:endParaRPr kumimoji="0" sz="2000" b="0" i="0" u="none" strike="noStrike" kern="0" cap="none" spc="0" normalizeH="0" baseline="0" noProof="0">
              <a:ln>
                <a:noFill/>
              </a:ln>
              <a:solidFill>
                <a:srgbClr val="78206E"/>
              </a:solidFill>
              <a:effectLst/>
              <a:uLnTx/>
              <a:uFillTx/>
              <a:latin typeface="Arial"/>
              <a:ea typeface="Arial"/>
              <a:cs typeface="Arial"/>
              <a:sym typeface="Arial"/>
            </a:endParaRPr>
          </a:p>
        </p:txBody>
      </p:sp>
      <p:pic>
        <p:nvPicPr>
          <p:cNvPr id="824" name="Google Shape;824;p51" descr="A green and white graph&#10;&#10;AI-generated content may be incorrect."/>
          <p:cNvPicPr preferRelativeResize="0"/>
          <p:nvPr/>
        </p:nvPicPr>
        <p:blipFill rotWithShape="1">
          <a:blip r:embed="rId5">
            <a:alphaModFix/>
          </a:blip>
          <a:srcRect/>
          <a:stretch/>
        </p:blipFill>
        <p:spPr>
          <a:xfrm>
            <a:off x="4446042" y="1343057"/>
            <a:ext cx="3240120" cy="3295710"/>
          </a:xfrm>
          <a:prstGeom prst="rect">
            <a:avLst/>
          </a:prstGeom>
          <a:noFill/>
          <a:ln>
            <a:noFill/>
          </a:ln>
        </p:spPr>
      </p:pic>
      <p:sp>
        <p:nvSpPr>
          <p:cNvPr id="825" name="Google Shape;825;p51"/>
          <p:cNvSpPr txBox="1"/>
          <p:nvPr/>
        </p:nvSpPr>
        <p:spPr>
          <a:xfrm>
            <a:off x="5034725" y="4679284"/>
            <a:ext cx="2534791" cy="707886"/>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Pathogen_protein_2</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a:p>
            <a:pPr marL="0" marR="0" lvl="0" indent="0" algn="ctr" defTabSz="914400" rtl="0" eaLnBrk="1" fontAlgn="auto" latinLnBrk="0" hangingPunct="1">
              <a:lnSpc>
                <a:spcPct val="100000"/>
              </a:lnSpc>
              <a:spcBef>
                <a:spcPts val="0"/>
              </a:spcBef>
              <a:spcAft>
                <a:spcPts val="0"/>
              </a:spcAft>
              <a:buClr>
                <a:srgbClr val="78206E"/>
              </a:buClr>
              <a:buSzPts val="2000"/>
              <a:buFont typeface="Arial"/>
              <a:buNone/>
              <a:tabLst/>
              <a:defRPr/>
            </a:pPr>
            <a:r>
              <a:rPr kumimoji="0" lang="es-ES" sz="2000" b="0" i="0" u="none" strike="noStrike" kern="0" cap="none" spc="0" normalizeH="0" baseline="0" noProof="0">
                <a:ln>
                  <a:noFill/>
                </a:ln>
                <a:solidFill>
                  <a:srgbClr val="78206E"/>
                </a:solidFill>
                <a:effectLst/>
                <a:uLnTx/>
                <a:uFillTx/>
                <a:latin typeface="Arial"/>
                <a:ea typeface="Arial"/>
                <a:cs typeface="Arial"/>
                <a:sym typeface="Arial"/>
              </a:rPr>
              <a:t>(AVR-Pib)</a:t>
            </a:r>
            <a:endParaRPr kumimoji="0" sz="2000" b="0" i="0" u="none" strike="noStrike" kern="0" cap="none" spc="0" normalizeH="0" baseline="0" noProof="0">
              <a:ln>
                <a:noFill/>
              </a:ln>
              <a:solidFill>
                <a:srgbClr val="78206E"/>
              </a:solidFill>
              <a:effectLst/>
              <a:uLnTx/>
              <a:uFillTx/>
              <a:latin typeface="Arial"/>
              <a:ea typeface="Arial"/>
              <a:cs typeface="Arial"/>
              <a:sym typeface="Arial"/>
            </a:endParaRPr>
          </a:p>
        </p:txBody>
      </p:sp>
      <p:grpSp>
        <p:nvGrpSpPr>
          <p:cNvPr id="826" name="Google Shape;826;p51"/>
          <p:cNvGrpSpPr/>
          <p:nvPr/>
        </p:nvGrpSpPr>
        <p:grpSpPr>
          <a:xfrm>
            <a:off x="885384" y="1009911"/>
            <a:ext cx="2454471" cy="2510531"/>
            <a:chOff x="885384" y="2284072"/>
            <a:chExt cx="2454471" cy="2510531"/>
          </a:xfrm>
        </p:grpSpPr>
        <p:sp>
          <p:nvSpPr>
            <p:cNvPr id="827" name="Google Shape;827;p51"/>
            <p:cNvSpPr/>
            <p:nvPr/>
          </p:nvSpPr>
          <p:spPr>
            <a:xfrm>
              <a:off x="987420" y="2684487"/>
              <a:ext cx="593552" cy="578421"/>
            </a:xfrm>
            <a:prstGeom prst="rect">
              <a:avLst/>
            </a:prstGeom>
            <a:noFill/>
            <a:ln w="44450" cap="flat" cmpd="sng">
              <a:solidFill>
                <a:srgbClr val="FFCE4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28" name="Google Shape;828;p51"/>
            <p:cNvSpPr/>
            <p:nvPr/>
          </p:nvSpPr>
          <p:spPr>
            <a:xfrm>
              <a:off x="1609253" y="3331066"/>
              <a:ext cx="1503192" cy="1463537"/>
            </a:xfrm>
            <a:prstGeom prst="rect">
              <a:avLst/>
            </a:prstGeom>
            <a:noFill/>
            <a:ln w="4445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29" name="Google Shape;829;p51"/>
            <p:cNvSpPr txBox="1"/>
            <p:nvPr/>
          </p:nvSpPr>
          <p:spPr>
            <a:xfrm>
              <a:off x="885384" y="2284072"/>
              <a:ext cx="786651"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CE4C"/>
                </a:buClr>
                <a:buSzPts val="1800"/>
                <a:buFont typeface="Arial"/>
                <a:buNone/>
                <a:tabLst/>
                <a:defRPr/>
              </a:pPr>
              <a:r>
                <a:rPr kumimoji="0" lang="es-ES" sz="1800" b="1" i="0" u="none" strike="noStrike" kern="0" cap="none" spc="0" normalizeH="0" baseline="0" noProof="0">
                  <a:ln>
                    <a:noFill/>
                  </a:ln>
                  <a:solidFill>
                    <a:srgbClr val="FFCE4C"/>
                  </a:solidFill>
                  <a:effectLst/>
                  <a:uLnTx/>
                  <a:uFillTx/>
                  <a:latin typeface="Arial"/>
                  <a:ea typeface="Arial"/>
                  <a:cs typeface="Arial"/>
                  <a:sym typeface="Arial"/>
                </a:rPr>
                <a:t>HMA</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30" name="Google Shape;830;p51"/>
            <p:cNvSpPr txBox="1"/>
            <p:nvPr/>
          </p:nvSpPr>
          <p:spPr>
            <a:xfrm>
              <a:off x="1836663" y="2950990"/>
              <a:ext cx="1503192"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NB-ARC</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sp>
        <p:nvSpPr>
          <p:cNvPr id="831" name="Google Shape;831;p51"/>
          <p:cNvSpPr/>
          <p:nvPr/>
        </p:nvSpPr>
        <p:spPr>
          <a:xfrm>
            <a:off x="3157093" y="3641379"/>
            <a:ext cx="593552" cy="578421"/>
          </a:xfrm>
          <a:prstGeom prst="rect">
            <a:avLst/>
          </a:prstGeom>
          <a:noFill/>
          <a:ln w="44450" cap="flat" cmpd="sng">
            <a:solidFill>
              <a:srgbClr val="D86CC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32" name="Google Shape;832;p51"/>
          <p:cNvSpPr/>
          <p:nvPr/>
        </p:nvSpPr>
        <p:spPr>
          <a:xfrm>
            <a:off x="7161636" y="3786835"/>
            <a:ext cx="428820" cy="432965"/>
          </a:xfrm>
          <a:prstGeom prst="rect">
            <a:avLst/>
          </a:prstGeom>
          <a:noFill/>
          <a:ln w="44450" cap="flat" cmpd="sng">
            <a:solidFill>
              <a:srgbClr val="D86CC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33" name="Google Shape;833;p51"/>
          <p:cNvSpPr/>
          <p:nvPr/>
        </p:nvSpPr>
        <p:spPr>
          <a:xfrm>
            <a:off x="10801625" y="3827553"/>
            <a:ext cx="428820" cy="432965"/>
          </a:xfrm>
          <a:prstGeom prst="rect">
            <a:avLst/>
          </a:prstGeom>
          <a:noFill/>
          <a:ln w="44450" cap="flat" cmpd="sng">
            <a:solidFill>
              <a:srgbClr val="D86CC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grpSp>
        <p:nvGrpSpPr>
          <p:cNvPr id="834" name="Google Shape;834;p51"/>
          <p:cNvGrpSpPr/>
          <p:nvPr/>
        </p:nvGrpSpPr>
        <p:grpSpPr>
          <a:xfrm>
            <a:off x="4850920" y="1109810"/>
            <a:ext cx="2283107" cy="2660696"/>
            <a:chOff x="885384" y="2284072"/>
            <a:chExt cx="2423644" cy="2758783"/>
          </a:xfrm>
        </p:grpSpPr>
        <p:sp>
          <p:nvSpPr>
            <p:cNvPr id="835" name="Google Shape;835;p51"/>
            <p:cNvSpPr/>
            <p:nvPr/>
          </p:nvSpPr>
          <p:spPr>
            <a:xfrm>
              <a:off x="898326" y="2645987"/>
              <a:ext cx="665411" cy="578421"/>
            </a:xfrm>
            <a:prstGeom prst="rect">
              <a:avLst/>
            </a:prstGeom>
            <a:noFill/>
            <a:ln w="44450" cap="flat" cmpd="sng">
              <a:solidFill>
                <a:srgbClr val="FFCE4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36" name="Google Shape;836;p51"/>
            <p:cNvSpPr/>
            <p:nvPr/>
          </p:nvSpPr>
          <p:spPr>
            <a:xfrm>
              <a:off x="1618680" y="3373151"/>
              <a:ext cx="1690348" cy="1669704"/>
            </a:xfrm>
            <a:prstGeom prst="rect">
              <a:avLst/>
            </a:prstGeom>
            <a:noFill/>
            <a:ln w="4445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37" name="Google Shape;837;p51"/>
            <p:cNvSpPr txBox="1"/>
            <p:nvPr/>
          </p:nvSpPr>
          <p:spPr>
            <a:xfrm>
              <a:off x="885384" y="2284072"/>
              <a:ext cx="786651"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CE4C"/>
                </a:buClr>
                <a:buSzPts val="1800"/>
                <a:buFont typeface="Arial"/>
                <a:buNone/>
                <a:tabLst/>
                <a:defRPr/>
              </a:pPr>
              <a:r>
                <a:rPr kumimoji="0" lang="es-ES" sz="1800" b="1" i="0" u="none" strike="noStrike" kern="0" cap="none" spc="0" normalizeH="0" baseline="0" noProof="0">
                  <a:ln>
                    <a:noFill/>
                  </a:ln>
                  <a:solidFill>
                    <a:srgbClr val="FFCE4C"/>
                  </a:solidFill>
                  <a:effectLst/>
                  <a:uLnTx/>
                  <a:uFillTx/>
                  <a:latin typeface="Arial"/>
                  <a:ea typeface="Arial"/>
                  <a:cs typeface="Arial"/>
                  <a:sym typeface="Arial"/>
                </a:rPr>
                <a:t>HMA</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38" name="Google Shape;838;p51"/>
            <p:cNvSpPr txBox="1"/>
            <p:nvPr/>
          </p:nvSpPr>
          <p:spPr>
            <a:xfrm>
              <a:off x="1830928" y="2950990"/>
              <a:ext cx="1265851" cy="382947"/>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NB-ARC</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grpSp>
        <p:nvGrpSpPr>
          <p:cNvPr id="839" name="Google Shape;839;p51"/>
          <p:cNvGrpSpPr/>
          <p:nvPr/>
        </p:nvGrpSpPr>
        <p:grpSpPr>
          <a:xfrm>
            <a:off x="8326447" y="1028052"/>
            <a:ext cx="2530005" cy="2799501"/>
            <a:chOff x="885384" y="2284072"/>
            <a:chExt cx="2477330" cy="2758783"/>
          </a:xfrm>
        </p:grpSpPr>
        <p:sp>
          <p:nvSpPr>
            <p:cNvPr id="840" name="Google Shape;840;p51"/>
            <p:cNvSpPr/>
            <p:nvPr/>
          </p:nvSpPr>
          <p:spPr>
            <a:xfrm>
              <a:off x="987420" y="2684487"/>
              <a:ext cx="593552" cy="578421"/>
            </a:xfrm>
            <a:prstGeom prst="rect">
              <a:avLst/>
            </a:prstGeom>
            <a:noFill/>
            <a:ln w="44450" cap="flat" cmpd="sng">
              <a:solidFill>
                <a:srgbClr val="FFCE4C"/>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41" name="Google Shape;841;p51"/>
            <p:cNvSpPr/>
            <p:nvPr/>
          </p:nvSpPr>
          <p:spPr>
            <a:xfrm>
              <a:off x="1618680" y="3373151"/>
              <a:ext cx="1690348" cy="1669704"/>
            </a:xfrm>
            <a:prstGeom prst="rect">
              <a:avLst/>
            </a:prstGeom>
            <a:noFill/>
            <a:ln w="44450" cap="flat" cmpd="sng">
              <a:solidFill>
                <a:schemeClr val="dk1"/>
              </a:solidFill>
              <a:prstDash val="solid"/>
              <a:miter lim="80"/>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endParaRPr kumimoji="0" sz="18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42" name="Google Shape;842;p51"/>
            <p:cNvSpPr txBox="1"/>
            <p:nvPr/>
          </p:nvSpPr>
          <p:spPr>
            <a:xfrm>
              <a:off x="885384" y="2284072"/>
              <a:ext cx="786651"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FFCE4C"/>
                </a:buClr>
                <a:buSzPts val="1800"/>
                <a:buFont typeface="Arial"/>
                <a:buNone/>
                <a:tabLst/>
                <a:defRPr/>
              </a:pPr>
              <a:r>
                <a:rPr kumimoji="0" lang="es-ES" sz="1800" b="1" i="0" u="none" strike="noStrike" kern="0" cap="none" spc="0" normalizeH="0" baseline="0" noProof="0">
                  <a:ln>
                    <a:noFill/>
                  </a:ln>
                  <a:solidFill>
                    <a:srgbClr val="FFCE4C"/>
                  </a:solidFill>
                  <a:effectLst/>
                  <a:uLnTx/>
                  <a:uFillTx/>
                  <a:latin typeface="Arial"/>
                  <a:ea typeface="Arial"/>
                  <a:cs typeface="Arial"/>
                  <a:sym typeface="Arial"/>
                </a:rPr>
                <a:t>HMA</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43" name="Google Shape;843;p51"/>
            <p:cNvSpPr txBox="1"/>
            <p:nvPr/>
          </p:nvSpPr>
          <p:spPr>
            <a:xfrm>
              <a:off x="1939668" y="2950990"/>
              <a:ext cx="1423046" cy="369332"/>
            </a:xfrm>
            <a:prstGeom prst="rect">
              <a:avLst/>
            </a:prstGeom>
            <a:no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1" i="0" u="none" strike="noStrike" kern="0" cap="none" spc="0" normalizeH="0" baseline="0" noProof="0">
                  <a:ln>
                    <a:noFill/>
                  </a:ln>
                  <a:solidFill>
                    <a:srgbClr val="000000"/>
                  </a:solidFill>
                  <a:effectLst/>
                  <a:uLnTx/>
                  <a:uFillTx/>
                  <a:latin typeface="Arial"/>
                  <a:ea typeface="Arial"/>
                  <a:cs typeface="Arial"/>
                  <a:sym typeface="Arial"/>
                </a:rPr>
                <a:t>NB-ARC</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grpSp>
        <p:nvGrpSpPr>
          <p:cNvPr id="844" name="Google Shape;844;p51"/>
          <p:cNvGrpSpPr/>
          <p:nvPr/>
        </p:nvGrpSpPr>
        <p:grpSpPr>
          <a:xfrm>
            <a:off x="1609253" y="5650006"/>
            <a:ext cx="1705372" cy="777853"/>
            <a:chOff x="1718150" y="5737506"/>
            <a:chExt cx="1401219" cy="777853"/>
          </a:xfrm>
        </p:grpSpPr>
        <p:sp>
          <p:nvSpPr>
            <p:cNvPr id="845" name="Google Shape;845;p51"/>
            <p:cNvSpPr txBox="1"/>
            <p:nvPr/>
          </p:nvSpPr>
          <p:spPr>
            <a:xfrm>
              <a:off x="2374003" y="5737506"/>
              <a:ext cx="6775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0.45</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46" name="Google Shape;846;p51"/>
            <p:cNvSpPr txBox="1"/>
            <p:nvPr/>
          </p:nvSpPr>
          <p:spPr>
            <a:xfrm>
              <a:off x="2374003" y="6146027"/>
              <a:ext cx="745366"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0.83</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47" name="Google Shape;847;p51"/>
            <p:cNvSpPr txBox="1"/>
            <p:nvPr/>
          </p:nvSpPr>
          <p:spPr>
            <a:xfrm>
              <a:off x="1785952" y="5737506"/>
              <a:ext cx="677564"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pTM:</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48" name="Google Shape;848;p51"/>
            <p:cNvSpPr txBox="1"/>
            <p:nvPr/>
          </p:nvSpPr>
          <p:spPr>
            <a:xfrm>
              <a:off x="1718150" y="6146027"/>
              <a:ext cx="745366"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dirty="0" err="1">
                  <a:ln>
                    <a:noFill/>
                  </a:ln>
                  <a:solidFill>
                    <a:srgbClr val="000000"/>
                  </a:solidFill>
                  <a:effectLst/>
                  <a:uLnTx/>
                  <a:uFillTx/>
                  <a:latin typeface="Arial"/>
                  <a:ea typeface="Arial"/>
                  <a:cs typeface="Arial"/>
                  <a:sym typeface="Arial"/>
                </a:rPr>
                <a:t>ipTM</a:t>
              </a:r>
              <a:r>
                <a:rPr kumimoji="0" lang="es-ES" sz="1800" b="0" i="0" u="none" strike="noStrike" kern="0" cap="none" spc="0" normalizeH="0" baseline="0" noProof="0" dirty="0">
                  <a:ln>
                    <a:noFill/>
                  </a:ln>
                  <a:solidFill>
                    <a:srgbClr val="000000"/>
                  </a:solidFill>
                  <a:effectLst/>
                  <a:uLnTx/>
                  <a:uFillTx/>
                  <a:latin typeface="Arial"/>
                  <a:ea typeface="Arial"/>
                  <a:cs typeface="Arial"/>
                  <a:sym typeface="Arial"/>
                </a:rPr>
                <a:t>:</a:t>
              </a:r>
              <a:endParaRPr kumimoji="0" sz="1800" b="0" i="0" u="none" strike="noStrike" kern="0" cap="none" spc="0" normalizeH="0" baseline="0" noProof="0" dirty="0">
                <a:ln>
                  <a:noFill/>
                </a:ln>
                <a:solidFill>
                  <a:srgbClr val="000000"/>
                </a:solidFill>
                <a:effectLst/>
                <a:uLnTx/>
                <a:uFillTx/>
                <a:latin typeface="Arial"/>
                <a:ea typeface="Arial"/>
                <a:cs typeface="Arial"/>
                <a:sym typeface="Arial"/>
              </a:endParaRPr>
            </a:p>
          </p:txBody>
        </p:sp>
      </p:grpSp>
      <p:grpSp>
        <p:nvGrpSpPr>
          <p:cNvPr id="849" name="Google Shape;849;p51"/>
          <p:cNvGrpSpPr/>
          <p:nvPr/>
        </p:nvGrpSpPr>
        <p:grpSpPr>
          <a:xfrm>
            <a:off x="5500267" y="5669600"/>
            <a:ext cx="1675188" cy="777853"/>
            <a:chOff x="1718150" y="5737506"/>
            <a:chExt cx="1401219" cy="777853"/>
          </a:xfrm>
        </p:grpSpPr>
        <p:sp>
          <p:nvSpPr>
            <p:cNvPr id="850" name="Google Shape;850;p51"/>
            <p:cNvSpPr txBox="1"/>
            <p:nvPr/>
          </p:nvSpPr>
          <p:spPr>
            <a:xfrm>
              <a:off x="2374003" y="5737506"/>
              <a:ext cx="6775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0.47</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1" name="Google Shape;851;p51"/>
            <p:cNvSpPr txBox="1"/>
            <p:nvPr/>
          </p:nvSpPr>
          <p:spPr>
            <a:xfrm>
              <a:off x="2374003" y="6146027"/>
              <a:ext cx="745366"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0.16</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2" name="Google Shape;852;p51"/>
            <p:cNvSpPr txBox="1"/>
            <p:nvPr/>
          </p:nvSpPr>
          <p:spPr>
            <a:xfrm>
              <a:off x="1785952" y="5737506"/>
              <a:ext cx="677564"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pTM:</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3" name="Google Shape;853;p51"/>
            <p:cNvSpPr txBox="1"/>
            <p:nvPr/>
          </p:nvSpPr>
          <p:spPr>
            <a:xfrm>
              <a:off x="1718150" y="6146027"/>
              <a:ext cx="745366"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ipTM:</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grpSp>
        <p:nvGrpSpPr>
          <p:cNvPr id="854" name="Google Shape;854;p51"/>
          <p:cNvGrpSpPr/>
          <p:nvPr/>
        </p:nvGrpSpPr>
        <p:grpSpPr>
          <a:xfrm>
            <a:off x="9036826" y="5650006"/>
            <a:ext cx="1719931" cy="777853"/>
            <a:chOff x="1718150" y="5737506"/>
            <a:chExt cx="1401219" cy="777853"/>
          </a:xfrm>
        </p:grpSpPr>
        <p:sp>
          <p:nvSpPr>
            <p:cNvPr id="855" name="Google Shape;855;p51"/>
            <p:cNvSpPr txBox="1"/>
            <p:nvPr/>
          </p:nvSpPr>
          <p:spPr>
            <a:xfrm>
              <a:off x="2374003" y="5737506"/>
              <a:ext cx="677564"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0.22</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6" name="Google Shape;856;p51"/>
            <p:cNvSpPr txBox="1"/>
            <p:nvPr/>
          </p:nvSpPr>
          <p:spPr>
            <a:xfrm>
              <a:off x="2374003" y="6146027"/>
              <a:ext cx="745366"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0.5</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7" name="Google Shape;857;p51"/>
            <p:cNvSpPr txBox="1"/>
            <p:nvPr/>
          </p:nvSpPr>
          <p:spPr>
            <a:xfrm>
              <a:off x="1785952" y="5737506"/>
              <a:ext cx="677564"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pTM:</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858" name="Google Shape;858;p51"/>
            <p:cNvSpPr txBox="1"/>
            <p:nvPr/>
          </p:nvSpPr>
          <p:spPr>
            <a:xfrm>
              <a:off x="1718150" y="6146027"/>
              <a:ext cx="745366" cy="369332"/>
            </a:xfrm>
            <a:prstGeom prst="rect">
              <a:avLst/>
            </a:prstGeom>
            <a:noFill/>
            <a:ln>
              <a:noFill/>
            </a:ln>
          </p:spPr>
          <p:txBody>
            <a:bodyPr spcFirstLastPara="1" wrap="square" lIns="91425" tIns="45700" rIns="91425" bIns="45700" anchor="t" anchorCtr="0">
              <a:spAutoFit/>
            </a:bodyPr>
            <a:lstStyle/>
            <a:p>
              <a:pPr marL="0" marR="0" lvl="0" indent="0" algn="r" defTabSz="914400" rtl="0" eaLnBrk="1" fontAlgn="auto" latinLnBrk="0" hangingPunct="1">
                <a:lnSpc>
                  <a:spcPct val="100000"/>
                </a:lnSpc>
                <a:spcBef>
                  <a:spcPts val="0"/>
                </a:spcBef>
                <a:spcAft>
                  <a:spcPts val="0"/>
                </a:spcAft>
                <a:buClr>
                  <a:srgbClr val="000000"/>
                </a:buClr>
                <a:buSzPts val="1800"/>
                <a:buFont typeface="Arial"/>
                <a:buNone/>
                <a:tabLst/>
                <a:defRPr/>
              </a:pPr>
              <a:r>
                <a:rPr kumimoji="0" lang="es-ES" sz="1800" b="0" i="0" u="none" strike="noStrike" kern="0" cap="none" spc="0" normalizeH="0" baseline="0" noProof="0">
                  <a:ln>
                    <a:noFill/>
                  </a:ln>
                  <a:solidFill>
                    <a:srgbClr val="000000"/>
                  </a:solidFill>
                  <a:effectLst/>
                  <a:uLnTx/>
                  <a:uFillTx/>
                  <a:latin typeface="Arial"/>
                  <a:ea typeface="Arial"/>
                  <a:cs typeface="Arial"/>
                  <a:sym typeface="Arial"/>
                </a:rPr>
                <a:t>ipTM:</a:t>
              </a:r>
              <a:endParaRPr kumimoji="0" sz="1800" b="0" i="0" u="none" strike="noStrike" kern="0" cap="none" spc="0" normalizeH="0" baseline="0" noProof="0">
                <a:ln>
                  <a:noFill/>
                </a:ln>
                <a:solidFill>
                  <a:srgbClr val="000000"/>
                </a:solidFill>
                <a:effectLst/>
                <a:uLnTx/>
                <a:uFillTx/>
                <a:latin typeface="Arial"/>
                <a:ea typeface="Arial"/>
                <a:cs typeface="Arial"/>
                <a:sym typeface="Arial"/>
              </a:endParaRPr>
            </a:p>
          </p:txBody>
        </p:sp>
      </p:grpSp>
    </p:spTree>
    <p:extLst>
      <p:ext uri="{BB962C8B-B14F-4D97-AF65-F5344CB8AC3E}">
        <p14:creationId xmlns:p14="http://schemas.microsoft.com/office/powerpoint/2010/main" val="11533577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5FA"/>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685800" y="530352"/>
            <a:ext cx="502920" cy="33833"/>
          </a:xfrm>
          <a:prstGeom prst="rect">
            <a:avLst/>
          </a:prstGeom>
        </p:spPr>
      </p:pic>
      <p:sp>
        <p:nvSpPr>
          <p:cNvPr id="3" name="Text 0"/>
          <p:cNvSpPr txBox="1"/>
          <p:nvPr/>
        </p:nvSpPr>
        <p:spPr>
          <a:xfrm>
            <a:off x="685800" y="676656"/>
            <a:ext cx="5486400"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Programme</a:t>
            </a:r>
            <a:endParaRPr kumimoji="0" lang="en-US" sz="3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685800" y="1188720"/>
            <a:ext cx="8229600" cy="25603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The same two-day programme runs at both venues (Espace Zmorda, then ISBS).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txBox="1"/>
          <p:nvPr/>
        </p:nvSpPr>
        <p:spPr>
          <a:xfrm>
            <a:off x="685800" y="1645920"/>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Day 1</a:t>
            </a:r>
            <a:r>
              <a:rPr kumimoji="0" lang="en-US" sz="1500" b="0"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   Predict &amp; Interpret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685800" y="1938528"/>
            <a:ext cx="5120640" cy="0"/>
          </a:xfrm>
          <a:prstGeom prst="line">
            <a:avLst/>
          </a:prstGeom>
          <a:noFill/>
          <a:ln w="12700">
            <a:solidFill>
              <a:srgbClr val="E4E0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 4"/>
          <p:cNvSpPr txBox="1"/>
          <p:nvPr/>
        </p:nvSpPr>
        <p:spPr>
          <a:xfrm>
            <a:off x="685800" y="201168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08:30–09:30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2075688" y="201168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Registration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685800" y="2318004"/>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09:30–09:45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2075688" y="2318004"/>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Welcome &amp; Introductions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685800" y="2624328"/>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09:45–10:15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2075688" y="2624328"/>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Introduction to AI for Genomics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685800" y="2930652"/>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10:15–11:00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2075688" y="2930652"/>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Theoretical Introduction to AlphaFold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685800" y="3236976"/>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11:00–11:20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2075688" y="3236976"/>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Break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685800" y="3557016"/>
            <a:ext cx="5120640" cy="278892"/>
          </a:xfrm>
          <a:prstGeom prst="roundRect">
            <a:avLst>
              <a:gd name="adj" fmla="val 16393"/>
            </a:avLst>
          </a:prstGeom>
          <a:solidFill>
            <a:srgbClr val="EDE8F4"/>
          </a:solidFill>
          <a:ln w="12700">
            <a:solidFill>
              <a:srgbClr val="EDE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685800" y="354330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11:20–12:30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Image 1" descr="preencoded.png"/>
          <p:cNvPicPr>
            <a:picLocks noChangeAspect="1"/>
          </p:cNvPicPr>
          <p:nvPr/>
        </p:nvPicPr>
        <p:blipFill>
          <a:blip r:embed="rId4"/>
          <a:stretch>
            <a:fillRect/>
          </a:stretch>
        </p:blipFill>
        <p:spPr>
          <a:xfrm>
            <a:off x="1746504" y="3579876"/>
            <a:ext cx="242316" cy="233172"/>
          </a:xfrm>
          <a:prstGeom prst="rect">
            <a:avLst/>
          </a:prstGeom>
        </p:spPr>
      </p:pic>
      <p:sp>
        <p:nvSpPr>
          <p:cNvPr id="20" name="Text 16"/>
          <p:cNvSpPr txBox="1"/>
          <p:nvPr/>
        </p:nvSpPr>
        <p:spPr>
          <a:xfrm>
            <a:off x="2075688" y="354330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Practical 1: </a:t>
            </a:r>
            <a:r>
              <a:rPr kumimoji="0" lang="en-US" sz="125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Predict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7"/>
          <p:cNvSpPr txBox="1"/>
          <p:nvPr/>
        </p:nvSpPr>
        <p:spPr>
          <a:xfrm>
            <a:off x="685800" y="3849624"/>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12:30–13:30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 18"/>
          <p:cNvSpPr txBox="1"/>
          <p:nvPr/>
        </p:nvSpPr>
        <p:spPr>
          <a:xfrm>
            <a:off x="2075688" y="3849624"/>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Lunch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19"/>
          <p:cNvSpPr txBox="1"/>
          <p:nvPr/>
        </p:nvSpPr>
        <p:spPr>
          <a:xfrm>
            <a:off x="685800" y="4155948"/>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13:30–15:00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0"/>
          <p:cNvSpPr txBox="1"/>
          <p:nvPr/>
        </p:nvSpPr>
        <p:spPr>
          <a:xfrm>
            <a:off x="2075688" y="4155948"/>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1"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GOHREP it</a:t>
            </a: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 Interactive discussions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 21"/>
          <p:cNvSpPr txBox="1"/>
          <p:nvPr/>
        </p:nvSpPr>
        <p:spPr>
          <a:xfrm>
            <a:off x="685800" y="4462272"/>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15:00–15:15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2"/>
          <p:cNvSpPr txBox="1"/>
          <p:nvPr/>
        </p:nvSpPr>
        <p:spPr>
          <a:xfrm>
            <a:off x="2075688" y="4462272"/>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Break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3"/>
          <p:cNvSpPr/>
          <p:nvPr/>
        </p:nvSpPr>
        <p:spPr>
          <a:xfrm>
            <a:off x="685800" y="4782312"/>
            <a:ext cx="5120640" cy="278892"/>
          </a:xfrm>
          <a:prstGeom prst="roundRect">
            <a:avLst>
              <a:gd name="adj" fmla="val 16393"/>
            </a:avLst>
          </a:prstGeom>
          <a:solidFill>
            <a:srgbClr val="EDE8F4"/>
          </a:solidFill>
          <a:ln w="12700">
            <a:solidFill>
              <a:srgbClr val="EDE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4"/>
          <p:cNvSpPr txBox="1"/>
          <p:nvPr/>
        </p:nvSpPr>
        <p:spPr>
          <a:xfrm>
            <a:off x="685800" y="4768596"/>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15:15–17:00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9" name="Image 2" descr="preencoded.png"/>
          <p:cNvPicPr>
            <a:picLocks noChangeAspect="1"/>
          </p:cNvPicPr>
          <p:nvPr/>
        </p:nvPicPr>
        <p:blipFill>
          <a:blip r:embed="rId5"/>
          <a:stretch>
            <a:fillRect/>
          </a:stretch>
        </p:blipFill>
        <p:spPr>
          <a:xfrm>
            <a:off x="1746504" y="4805172"/>
            <a:ext cx="242316" cy="233172"/>
          </a:xfrm>
          <a:prstGeom prst="rect">
            <a:avLst/>
          </a:prstGeom>
        </p:spPr>
      </p:pic>
      <p:sp>
        <p:nvSpPr>
          <p:cNvPr id="30" name="Text 25"/>
          <p:cNvSpPr txBox="1"/>
          <p:nvPr/>
        </p:nvSpPr>
        <p:spPr>
          <a:xfrm>
            <a:off x="2075688" y="4768596"/>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Practical 2: </a:t>
            </a:r>
            <a:r>
              <a:rPr kumimoji="0" lang="en-US" sz="125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Interpret</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6"/>
          <p:cNvSpPr txBox="1"/>
          <p:nvPr/>
        </p:nvSpPr>
        <p:spPr>
          <a:xfrm>
            <a:off x="685800" y="507492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17:00–17:15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7"/>
          <p:cNvSpPr txBox="1"/>
          <p:nvPr/>
        </p:nvSpPr>
        <p:spPr>
          <a:xfrm>
            <a:off x="2075688" y="507492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Q&amp;A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28"/>
          <p:cNvSpPr txBox="1"/>
          <p:nvPr/>
        </p:nvSpPr>
        <p:spPr>
          <a:xfrm>
            <a:off x="6382512" y="1645920"/>
            <a:ext cx="512064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Day 2</a:t>
            </a:r>
            <a:r>
              <a:rPr kumimoji="0" lang="en-US" sz="1500" b="0"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   Compare &amp; Design</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29"/>
          <p:cNvSpPr/>
          <p:nvPr/>
        </p:nvSpPr>
        <p:spPr>
          <a:xfrm>
            <a:off x="6382512" y="1938528"/>
            <a:ext cx="5120640" cy="0"/>
          </a:xfrm>
          <a:prstGeom prst="line">
            <a:avLst/>
          </a:prstGeom>
          <a:noFill/>
          <a:ln w="12700">
            <a:solidFill>
              <a:srgbClr val="E4E0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0"/>
          <p:cNvSpPr txBox="1"/>
          <p:nvPr/>
        </p:nvSpPr>
        <p:spPr>
          <a:xfrm>
            <a:off x="6382512" y="201168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09:00–09:30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1"/>
          <p:cNvSpPr txBox="1"/>
          <p:nvPr/>
        </p:nvSpPr>
        <p:spPr>
          <a:xfrm>
            <a:off x="7772400" y="201168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Day 2 Welcome &amp; Registration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2"/>
          <p:cNvSpPr/>
          <p:nvPr/>
        </p:nvSpPr>
        <p:spPr>
          <a:xfrm>
            <a:off x="6382512" y="2331720"/>
            <a:ext cx="5120640" cy="278892"/>
          </a:xfrm>
          <a:prstGeom prst="roundRect">
            <a:avLst>
              <a:gd name="adj" fmla="val 16393"/>
            </a:avLst>
          </a:prstGeom>
          <a:solidFill>
            <a:srgbClr val="EDE8F4"/>
          </a:solidFill>
          <a:ln w="12700">
            <a:solidFill>
              <a:srgbClr val="EDE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3"/>
          <p:cNvSpPr txBox="1"/>
          <p:nvPr/>
        </p:nvSpPr>
        <p:spPr>
          <a:xfrm>
            <a:off x="6382512" y="2318004"/>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09:30–11:15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9" name="Image 3" descr="preencoded.png"/>
          <p:cNvPicPr>
            <a:picLocks noChangeAspect="1"/>
          </p:cNvPicPr>
          <p:nvPr/>
        </p:nvPicPr>
        <p:blipFill>
          <a:blip r:embed="rId6"/>
          <a:stretch>
            <a:fillRect/>
          </a:stretch>
        </p:blipFill>
        <p:spPr>
          <a:xfrm>
            <a:off x="7443216" y="2354580"/>
            <a:ext cx="242316" cy="233172"/>
          </a:xfrm>
          <a:prstGeom prst="rect">
            <a:avLst/>
          </a:prstGeom>
        </p:spPr>
      </p:pic>
      <p:sp>
        <p:nvSpPr>
          <p:cNvPr id="40" name="Text 34"/>
          <p:cNvSpPr txBox="1"/>
          <p:nvPr/>
        </p:nvSpPr>
        <p:spPr>
          <a:xfrm>
            <a:off x="7772400" y="2318004"/>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Practical 3: </a:t>
            </a:r>
            <a:r>
              <a:rPr kumimoji="0" lang="en-US" sz="125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Compare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 35"/>
          <p:cNvSpPr txBox="1"/>
          <p:nvPr/>
        </p:nvSpPr>
        <p:spPr>
          <a:xfrm>
            <a:off x="6382512" y="2624328"/>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11:15–11:30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 36"/>
          <p:cNvSpPr txBox="1"/>
          <p:nvPr/>
        </p:nvSpPr>
        <p:spPr>
          <a:xfrm>
            <a:off x="7772400" y="2624328"/>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Break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37"/>
          <p:cNvSpPr txBox="1"/>
          <p:nvPr/>
        </p:nvSpPr>
        <p:spPr>
          <a:xfrm>
            <a:off x="6382512" y="2930652"/>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11:30–12:30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38"/>
          <p:cNvSpPr txBox="1"/>
          <p:nvPr/>
        </p:nvSpPr>
        <p:spPr>
          <a:xfrm>
            <a:off x="7772400" y="2930652"/>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Model your own proteins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39"/>
          <p:cNvSpPr txBox="1"/>
          <p:nvPr/>
        </p:nvSpPr>
        <p:spPr>
          <a:xfrm>
            <a:off x="6382512" y="3236976"/>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12:30–13:30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Text 40"/>
          <p:cNvSpPr txBox="1"/>
          <p:nvPr/>
        </p:nvSpPr>
        <p:spPr>
          <a:xfrm>
            <a:off x="7772400" y="3236976"/>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Lunch</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1"/>
          <p:cNvSpPr/>
          <p:nvPr/>
        </p:nvSpPr>
        <p:spPr>
          <a:xfrm>
            <a:off x="6382512" y="3557016"/>
            <a:ext cx="5120640" cy="278892"/>
          </a:xfrm>
          <a:prstGeom prst="roundRect">
            <a:avLst>
              <a:gd name="adj" fmla="val 16393"/>
            </a:avLst>
          </a:prstGeom>
          <a:solidFill>
            <a:srgbClr val="EDE8F4"/>
          </a:solidFill>
          <a:ln w="12700">
            <a:solidFill>
              <a:srgbClr val="EDE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2"/>
          <p:cNvSpPr txBox="1"/>
          <p:nvPr/>
        </p:nvSpPr>
        <p:spPr>
          <a:xfrm>
            <a:off x="6382512" y="354330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13:30–14:45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9" name="Image 4" descr="preencoded.png"/>
          <p:cNvPicPr>
            <a:picLocks noChangeAspect="1"/>
          </p:cNvPicPr>
          <p:nvPr/>
        </p:nvPicPr>
        <p:blipFill>
          <a:blip r:embed="rId7"/>
          <a:stretch>
            <a:fillRect/>
          </a:stretch>
        </p:blipFill>
        <p:spPr>
          <a:xfrm>
            <a:off x="7443216" y="3579876"/>
            <a:ext cx="242316" cy="233172"/>
          </a:xfrm>
          <a:prstGeom prst="rect">
            <a:avLst/>
          </a:prstGeom>
        </p:spPr>
      </p:pic>
      <p:sp>
        <p:nvSpPr>
          <p:cNvPr id="50" name="Text 43"/>
          <p:cNvSpPr txBox="1"/>
          <p:nvPr/>
        </p:nvSpPr>
        <p:spPr>
          <a:xfrm>
            <a:off x="7772400" y="354330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Practical 4: </a:t>
            </a:r>
            <a:r>
              <a:rPr kumimoji="0" lang="en-US" sz="1250" b="1" i="0" u="none" strike="noStrike" kern="1200" cap="none" spc="0" normalizeH="0" baseline="0" noProof="0" dirty="0">
                <a:ln>
                  <a:noFill/>
                </a:ln>
                <a:solidFill>
                  <a:srgbClr val="5F468D"/>
                </a:solidFill>
                <a:effectLst/>
                <a:uLnTx/>
                <a:uFillTx/>
                <a:latin typeface="Arial" pitchFamily="34" charset="0"/>
                <a:ea typeface="Arial" pitchFamily="34" charset="-122"/>
                <a:cs typeface="Arial" pitchFamily="34" charset="-120"/>
              </a:rPr>
              <a:t>Design</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1" name="Text 44"/>
          <p:cNvSpPr txBox="1"/>
          <p:nvPr/>
        </p:nvSpPr>
        <p:spPr>
          <a:xfrm>
            <a:off x="6382512" y="3849624"/>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14:45–15:05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2" name="Text 45"/>
          <p:cNvSpPr txBox="1"/>
          <p:nvPr/>
        </p:nvSpPr>
        <p:spPr>
          <a:xfrm>
            <a:off x="7772400" y="3849624"/>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Break</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46"/>
          <p:cNvSpPr txBox="1"/>
          <p:nvPr/>
        </p:nvSpPr>
        <p:spPr>
          <a:xfrm>
            <a:off x="6382512" y="4155948"/>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15:05–16:15</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Text 47"/>
          <p:cNvSpPr txBox="1"/>
          <p:nvPr/>
        </p:nvSpPr>
        <p:spPr>
          <a:xfrm>
            <a:off x="7772400" y="4155948"/>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Genomics in an AI world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5" name="Text 48"/>
          <p:cNvSpPr txBox="1"/>
          <p:nvPr/>
        </p:nvSpPr>
        <p:spPr>
          <a:xfrm>
            <a:off x="6382512" y="4462272"/>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16:15–16:30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49"/>
          <p:cNvSpPr txBox="1"/>
          <p:nvPr/>
        </p:nvSpPr>
        <p:spPr>
          <a:xfrm>
            <a:off x="7772400" y="4462272"/>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Summary</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0"/>
          <p:cNvSpPr txBox="1"/>
          <p:nvPr/>
        </p:nvSpPr>
        <p:spPr>
          <a:xfrm>
            <a:off x="6382512" y="4768596"/>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16:30–17:00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1"/>
          <p:cNvSpPr txBox="1"/>
          <p:nvPr/>
        </p:nvSpPr>
        <p:spPr>
          <a:xfrm>
            <a:off x="7772400" y="4768596"/>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Q&amp;A</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2"/>
          <p:cNvSpPr txBox="1"/>
          <p:nvPr/>
        </p:nvSpPr>
        <p:spPr>
          <a:xfrm>
            <a:off x="6382512" y="5074920"/>
            <a:ext cx="1005840"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17:00</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Text 53"/>
          <p:cNvSpPr txBox="1"/>
          <p:nvPr/>
        </p:nvSpPr>
        <p:spPr>
          <a:xfrm>
            <a:off x="7772400" y="5074920"/>
            <a:ext cx="3730752" cy="3063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0" i="0" u="none" strike="noStrike" kern="1200" cap="none" spc="0" normalizeH="0" baseline="0" noProof="0" dirty="0">
                <a:ln>
                  <a:noFill/>
                </a:ln>
                <a:solidFill>
                  <a:srgbClr val="221D2E"/>
                </a:solidFill>
                <a:effectLst/>
                <a:uLnTx/>
                <a:uFillTx/>
                <a:latin typeface="Arial" pitchFamily="34" charset="0"/>
                <a:ea typeface="Arial" pitchFamily="34" charset="-122"/>
                <a:cs typeface="Arial" pitchFamily="34" charset="-120"/>
              </a:rPr>
              <a:t>Meeting close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Shape 54"/>
          <p:cNvSpPr/>
          <p:nvPr/>
        </p:nvSpPr>
        <p:spPr>
          <a:xfrm>
            <a:off x="685800" y="5760720"/>
            <a:ext cx="10835640" cy="0"/>
          </a:xfrm>
          <a:prstGeom prst="line">
            <a:avLst/>
          </a:prstGeom>
          <a:noFill/>
          <a:ln w="12700">
            <a:solidFill>
              <a:srgbClr val="E4E0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62" name="Image 5" descr="preencoded.png"/>
          <p:cNvPicPr>
            <a:picLocks noChangeAspect="1"/>
          </p:cNvPicPr>
          <p:nvPr/>
        </p:nvPicPr>
        <p:blipFill>
          <a:blip r:embed="rId8"/>
          <a:stretch>
            <a:fillRect/>
          </a:stretch>
        </p:blipFill>
        <p:spPr>
          <a:xfrm>
            <a:off x="685800" y="5943600"/>
            <a:ext cx="818388" cy="566928"/>
          </a:xfrm>
          <a:prstGeom prst="rect">
            <a:avLst/>
          </a:prstGeom>
        </p:spPr>
      </p:pic>
      <p:pic>
        <p:nvPicPr>
          <p:cNvPr id="63" name="Image 6" descr="preencoded.png"/>
          <p:cNvPicPr>
            <a:picLocks noChangeAspect="1"/>
          </p:cNvPicPr>
          <p:nvPr/>
        </p:nvPicPr>
        <p:blipFill>
          <a:blip r:embed="rId9"/>
          <a:stretch>
            <a:fillRect/>
          </a:stretch>
        </p:blipFill>
        <p:spPr>
          <a:xfrm>
            <a:off x="1810512" y="6089904"/>
            <a:ext cx="1511503" cy="274320"/>
          </a:xfrm>
          <a:prstGeom prst="rect">
            <a:avLst/>
          </a:prstGeom>
        </p:spPr>
      </p:pic>
      <p:sp>
        <p:nvSpPr>
          <p:cNvPr id="64" name="Text 55"/>
          <p:cNvSpPr txBox="1"/>
          <p:nvPr/>
        </p:nvSpPr>
        <p:spPr>
          <a:xfrm>
            <a:off x="5669280" y="6089904"/>
            <a:ext cx="5852160" cy="27432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635C73"/>
                </a:solidFill>
                <a:effectLst/>
                <a:uLnTx/>
                <a:uFillTx/>
                <a:latin typeface="Arial" pitchFamily="34" charset="0"/>
                <a:ea typeface="Arial" pitchFamily="34" charset="-122"/>
                <a:cs typeface="Arial" pitchFamily="34" charset="-120"/>
              </a:rPr>
              <a:t>getgenome@tsl.ac.uk · getgenome.net · </a:t>
            </a:r>
            <a:r>
              <a:rPr kumimoji="0" lang="en-US" sz="1100" b="0" i="1" u="none" strike="noStrike" kern="1200" cap="none" spc="0" normalizeH="0" baseline="0" noProof="0" dirty="0">
                <a:ln>
                  <a:noFill/>
                </a:ln>
                <a:solidFill>
                  <a:srgbClr val="A85674"/>
                </a:solidFill>
                <a:effectLst/>
                <a:uLnTx/>
                <a:uFillTx/>
                <a:latin typeface="Arial" pitchFamily="34" charset="0"/>
                <a:ea typeface="Arial" pitchFamily="34" charset="-122"/>
                <a:cs typeface="Arial" pitchFamily="34" charset="-120"/>
              </a:rPr>
              <a:t>#AIGenomics2026</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3359</TotalTime>
  <Words>1224</Words>
  <Application>Microsoft Macintosh PowerPoint</Application>
  <PresentationFormat>Widescreen</PresentationFormat>
  <Paragraphs>223</Paragraphs>
  <Slides>19</Slides>
  <Notes>19</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19</vt:i4>
      </vt:variant>
    </vt:vector>
  </HeadingPairs>
  <TitlesOfParts>
    <vt:vector size="27" baseType="lpstr">
      <vt:lpstr>Aptos</vt:lpstr>
      <vt:lpstr>Arial</vt:lpstr>
      <vt:lpstr>Calibri</vt:lpstr>
      <vt:lpstr>Cambria</vt:lpstr>
      <vt:lpstr>Courier New</vt:lpstr>
      <vt:lpstr>Play</vt:lpstr>
      <vt:lpstr>Office Theme</vt:lpstr>
      <vt:lpstr>2_Office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Andres Posbeyikian (TSL)</cp:lastModifiedBy>
  <cp:revision>80</cp:revision>
  <dcterms:created xsi:type="dcterms:W3CDTF">2026-07-30T09:49:59Z</dcterms:created>
  <dcterms:modified xsi:type="dcterms:W3CDTF">2026-09-13T12:35:55Z</dcterms:modified>
</cp:coreProperties>
</file>